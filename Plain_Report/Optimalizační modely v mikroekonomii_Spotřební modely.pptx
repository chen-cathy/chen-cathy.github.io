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5" r:id="rId3"/>
  </p:sldMasterIdLst>
  <p:notesMasterIdLst>
    <p:notesMasterId r:id="rId17"/>
  </p:notesMasterIdLst>
  <p:sldIdLst>
    <p:sldId id="256" r:id="rId4"/>
    <p:sldId id="258" r:id="rId5"/>
    <p:sldId id="260" r:id="rId6"/>
    <p:sldId id="257" r:id="rId7"/>
    <p:sldId id="263" r:id="rId8"/>
    <p:sldId id="259" r:id="rId9"/>
    <p:sldId id="264" r:id="rId10"/>
    <p:sldId id="265" r:id="rId11"/>
    <p:sldId id="266" r:id="rId12"/>
    <p:sldId id="268" r:id="rId13"/>
    <p:sldId id="269" r:id="rId14"/>
    <p:sldId id="270" r:id="rId15"/>
    <p:sldId id="26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90" autoAdjust="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D:\2026%201st%20sememstr\Modelov&#225;n&#237;%20v%20ekonomii%20a%20managementu\SP1_Data_Chen%20Shuli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D:\2026%201st%20sememstr\Modelov&#225;n&#237;%20v%20ekonomii%20a%20managementu\SP1_Data_Chen%20Shuli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sz="1400"/>
              <a:t>CENOVÁ ELASTICITA</a:t>
            </a:r>
            <a:br>
              <a:rPr lang="en-GB" sz="1400"/>
            </a:br>
            <a:r>
              <a:rPr lang="en-GB" sz="1400"/>
              <a:t>Brambory</a:t>
            </a:r>
            <a:endParaRPr lang="zh-TW" sz="1400"/>
          </a:p>
        </c:rich>
      </c:tx>
      <c:layout>
        <c:manualLayout>
          <c:xMode val="edge"/>
          <c:yMode val="edge"/>
          <c:x val="0.36832037416744673"/>
          <c:y val="5.0926024859177341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 cap="rnd">
                <a:solidFill>
                  <a:schemeClr val="accent1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xVal>
            <c:numRef>
              <c:f>'[SP1_Data_Chen Shuli.xlsx]CENOVÁ ELASTICITA'!$A$4:$A$13</c:f>
              <c:numCache>
                <c:formatCode>General</c:formatCode>
                <c:ptCount val="10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</c:numCache>
            </c:numRef>
          </c:xVal>
          <c:yVal>
            <c:numRef>
              <c:f>'[SP1_Data_Chen Shuli.xlsx]CENOVÁ ELASTICITA'!$D$4:$D$13</c:f>
              <c:numCache>
                <c:formatCode>0.0000</c:formatCode>
                <c:ptCount val="10"/>
                <c:pt idx="1">
                  <c:v>-0.31313131313131465</c:v>
                </c:pt>
                <c:pt idx="2">
                  <c:v>3.8385638805779783E-2</c:v>
                </c:pt>
                <c:pt idx="3">
                  <c:v>0.12347574221578532</c:v>
                </c:pt>
                <c:pt idx="4">
                  <c:v>3.14809384164221</c:v>
                </c:pt>
                <c:pt idx="5">
                  <c:v>-0.64106351550960117</c:v>
                </c:pt>
                <c:pt idx="6">
                  <c:v>-0.30959302325581034</c:v>
                </c:pt>
                <c:pt idx="7">
                  <c:v>-5.118523180197173E-2</c:v>
                </c:pt>
                <c:pt idx="8">
                  <c:v>0.52290712203248479</c:v>
                </c:pt>
                <c:pt idx="9">
                  <c:v>1.1359583952451713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AE4-4A60-858A-5EE96D5154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582016"/>
        <c:axId val="185166656"/>
      </c:scatterChart>
      <c:valAx>
        <c:axId val="48582016"/>
        <c:scaling>
          <c:orientation val="minMax"/>
          <c:max val="2020"/>
          <c:min val="2012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85166656"/>
        <c:crosses val="autoZero"/>
        <c:crossBetween val="midCat"/>
      </c:valAx>
      <c:valAx>
        <c:axId val="1851666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_ ;[Red]\-#,##0.0\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4858201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accent1"/>
      </a:solidFill>
      <a:round/>
    </a:ln>
    <a:effectLst/>
  </c:spPr>
  <c:txPr>
    <a:bodyPr/>
    <a:lstStyle/>
    <a:p>
      <a:pPr>
        <a:defRPr/>
      </a:pPr>
      <a:endParaRPr lang="zh-TW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altLang="zh-TW"/>
              <a:t>KŘÍŽOVÝ EFEKT</a:t>
            </a:r>
            <a:endParaRPr lang="zh-TW"/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 cap="rnd">
                <a:solidFill>
                  <a:schemeClr val="accent1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xVal>
            <c:numRef>
              <c:f>'[SP1_Data_Chen Shuli.xlsx]KŘÍŽOVÝ EFEKT'!$A$5:$A$13</c:f>
              <c:numCache>
                <c:formatCode>General</c:formatCode>
                <c:ptCount val="9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</c:numCache>
            </c:numRef>
          </c:xVal>
          <c:yVal>
            <c:numRef>
              <c:f>'[SP1_Data_Chen Shuli.xlsx]KŘÍŽOVÝ EFEKT'!$F$5:$F$13</c:f>
              <c:numCache>
                <c:formatCode>0.00</c:formatCode>
                <c:ptCount val="9"/>
                <c:pt idx="0">
                  <c:v>-1.367003367003369</c:v>
                </c:pt>
                <c:pt idx="1">
                  <c:v>-0.90263543191800333</c:v>
                </c:pt>
                <c:pt idx="2">
                  <c:v>2.527299058653143</c:v>
                </c:pt>
                <c:pt idx="3">
                  <c:v>-2.939149560117285</c:v>
                </c:pt>
                <c:pt idx="4">
                  <c:v>3.544460856720824</c:v>
                </c:pt>
                <c:pt idx="5">
                  <c:v>-0.4742005813953461</c:v>
                </c:pt>
                <c:pt idx="6">
                  <c:v>-0.65051395007341561</c:v>
                </c:pt>
                <c:pt idx="7">
                  <c:v>1.0793798038696036</c:v>
                </c:pt>
                <c:pt idx="8">
                  <c:v>-7.5185735512629046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915-4FEC-AEBB-ABA23AFC8D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5170688"/>
        <c:axId val="185171264"/>
      </c:scatterChart>
      <c:valAx>
        <c:axId val="185170688"/>
        <c:scaling>
          <c:orientation val="minMax"/>
          <c:max val="2020"/>
          <c:min val="2012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85171264"/>
        <c:crosses val="autoZero"/>
        <c:crossBetween val="midCat"/>
      </c:valAx>
      <c:valAx>
        <c:axId val="1851712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0_ ;[Red]\-#,##0.00\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851706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ln>
      <a:solidFill>
        <a:schemeClr val="accent1">
          <a:lumMod val="75000"/>
        </a:schemeClr>
      </a:solidFill>
    </a:ln>
  </c:spPr>
  <c:txPr>
    <a:bodyPr/>
    <a:lstStyle/>
    <a:p>
      <a:pPr>
        <a:defRPr/>
      </a:pPr>
      <a:endParaRPr lang="zh-TW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A98E9A-124F-4BCB-9C2C-DCB97370DBE5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968989-46C8-4564-A19D-E3F92BD6A5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9883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GB" dirty="0"/>
              <a:t>「</a:t>
            </a:r>
            <a:r>
              <a:rPr lang="en-GB" altLang="zh-TW" dirty="0" err="1"/>
              <a:t>Tady</a:t>
            </a:r>
            <a:r>
              <a:rPr lang="en-GB" altLang="zh-TW" dirty="0"/>
              <a:t> je </a:t>
            </a:r>
            <a:r>
              <a:rPr lang="en-GB" altLang="zh-TW" dirty="0" err="1"/>
              <a:t>můj</a:t>
            </a:r>
            <a:r>
              <a:rPr lang="en-GB" altLang="zh-TW" dirty="0"/>
              <a:t> </a:t>
            </a:r>
            <a:r>
              <a:rPr lang="en-GB" altLang="zh-TW" b="1" dirty="0" err="1"/>
              <a:t>spotřební</a:t>
            </a:r>
            <a:r>
              <a:rPr lang="en-GB" altLang="zh-TW" b="1" dirty="0"/>
              <a:t> </a:t>
            </a:r>
            <a:r>
              <a:rPr lang="en-GB" altLang="zh-TW" b="1" dirty="0" err="1"/>
              <a:t>koš</a:t>
            </a:r>
            <a:r>
              <a:rPr lang="en-GB" altLang="zh-TW" dirty="0"/>
              <a:t>, </a:t>
            </a:r>
            <a:r>
              <a:rPr lang="en-GB" altLang="zh-TW" dirty="0" err="1"/>
              <a:t>mám</a:t>
            </a:r>
            <a:r>
              <a:rPr lang="en-GB" altLang="zh-TW" dirty="0"/>
              <a:t> </a:t>
            </a:r>
            <a:r>
              <a:rPr lang="en-GB" altLang="zh-TW" dirty="0" err="1"/>
              <a:t>tady</a:t>
            </a:r>
            <a:r>
              <a:rPr lang="en-GB" altLang="zh-TW" dirty="0"/>
              <a:t> </a:t>
            </a:r>
            <a:r>
              <a:rPr lang="en-GB" altLang="zh-TW" dirty="0" err="1"/>
              <a:t>dva</a:t>
            </a:r>
            <a:r>
              <a:rPr lang="en-GB" altLang="zh-TW" dirty="0"/>
              <a:t> </a:t>
            </a:r>
            <a:r>
              <a:rPr lang="en-GB" altLang="zh-TW" dirty="0" err="1"/>
              <a:t>statky</a:t>
            </a:r>
            <a:r>
              <a:rPr lang="en-GB" altLang="zh-TW" dirty="0"/>
              <a:t> – </a:t>
            </a:r>
            <a:r>
              <a:rPr lang="en-GB" altLang="zh-TW" b="1" dirty="0" err="1"/>
              <a:t>brambory</a:t>
            </a:r>
            <a:r>
              <a:rPr lang="en-GB" altLang="zh-TW" b="1" dirty="0"/>
              <a:t> a </a:t>
            </a:r>
            <a:r>
              <a:rPr lang="en-GB" altLang="zh-TW" b="1" dirty="0" err="1"/>
              <a:t>rýži</a:t>
            </a:r>
            <a:r>
              <a:rPr lang="en-GB" altLang="zh-TW" dirty="0"/>
              <a:t>.</a:t>
            </a:r>
            <a:br>
              <a:rPr lang="en-GB" altLang="zh-TW" dirty="0"/>
            </a:br>
            <a:r>
              <a:rPr lang="en-GB" altLang="zh-TW" dirty="0" err="1"/>
              <a:t>Všechna</a:t>
            </a:r>
            <a:r>
              <a:rPr lang="en-GB" altLang="zh-TW" dirty="0"/>
              <a:t> </a:t>
            </a:r>
            <a:r>
              <a:rPr lang="en-GB" altLang="zh-TW" dirty="0" err="1"/>
              <a:t>čísla</a:t>
            </a:r>
            <a:r>
              <a:rPr lang="en-GB" altLang="zh-TW" dirty="0"/>
              <a:t>, </a:t>
            </a:r>
            <a:r>
              <a:rPr lang="en-GB" altLang="zh-TW" dirty="0" err="1"/>
              <a:t>která</a:t>
            </a:r>
            <a:r>
              <a:rPr lang="en-GB" altLang="zh-TW" dirty="0"/>
              <a:t> </a:t>
            </a:r>
            <a:r>
              <a:rPr lang="en-GB" altLang="zh-TW" dirty="0" err="1"/>
              <a:t>vidíte</a:t>
            </a:r>
            <a:r>
              <a:rPr lang="en-GB" altLang="zh-TW" dirty="0"/>
              <a:t>, </a:t>
            </a:r>
            <a:r>
              <a:rPr lang="en-GB" altLang="zh-TW" dirty="0" err="1"/>
              <a:t>jsem</a:t>
            </a:r>
            <a:r>
              <a:rPr lang="en-GB" altLang="zh-TW" dirty="0"/>
              <a:t> </a:t>
            </a:r>
            <a:r>
              <a:rPr lang="en-GB" altLang="zh-TW" dirty="0" err="1"/>
              <a:t>už</a:t>
            </a:r>
            <a:r>
              <a:rPr lang="en-GB" altLang="zh-TW" dirty="0"/>
              <a:t> </a:t>
            </a:r>
            <a:r>
              <a:rPr lang="en-GB" altLang="zh-TW" dirty="0" err="1"/>
              <a:t>vypočítala</a:t>
            </a:r>
            <a:r>
              <a:rPr lang="en-GB" altLang="zh-TW" dirty="0"/>
              <a:t> v </a:t>
            </a:r>
            <a:r>
              <a:rPr lang="en-GB" altLang="zh-TW" b="1" dirty="0" err="1"/>
              <a:t>Excelu</a:t>
            </a:r>
            <a:r>
              <a:rPr lang="en-GB" altLang="zh-TW" dirty="0"/>
              <a:t>, a </a:t>
            </a:r>
            <a:r>
              <a:rPr lang="en-GB" altLang="zh-TW" dirty="0" err="1"/>
              <a:t>na</a:t>
            </a:r>
            <a:r>
              <a:rPr lang="en-GB" altLang="zh-TW" dirty="0"/>
              <a:t> </a:t>
            </a:r>
            <a:r>
              <a:rPr lang="en-GB" altLang="zh-TW" dirty="0" err="1"/>
              <a:t>dalších</a:t>
            </a:r>
            <a:r>
              <a:rPr lang="en-GB" altLang="zh-TW" dirty="0"/>
              <a:t> </a:t>
            </a:r>
            <a:r>
              <a:rPr lang="en-GB" altLang="zh-TW" dirty="0" err="1"/>
              <a:t>slidech</a:t>
            </a:r>
            <a:r>
              <a:rPr lang="en-GB" altLang="zh-TW" dirty="0"/>
              <a:t> </a:t>
            </a:r>
            <a:r>
              <a:rPr lang="en-GB" altLang="zh-TW" dirty="0" err="1"/>
              <a:t>vám</a:t>
            </a:r>
            <a:r>
              <a:rPr lang="en-GB" altLang="zh-TW" dirty="0"/>
              <a:t> </a:t>
            </a:r>
            <a:r>
              <a:rPr lang="en-GB" altLang="zh-TW" dirty="0" err="1"/>
              <a:t>ukážu</a:t>
            </a:r>
            <a:r>
              <a:rPr lang="en-GB" altLang="zh-TW" dirty="0"/>
              <a:t>, co z </a:t>
            </a:r>
            <a:r>
              <a:rPr lang="en-GB" altLang="zh-TW" dirty="0" err="1"/>
              <a:t>toho</a:t>
            </a:r>
            <a:r>
              <a:rPr lang="en-GB" altLang="zh-TW" dirty="0"/>
              <a:t> </a:t>
            </a:r>
            <a:r>
              <a:rPr lang="en-GB" altLang="zh-TW" dirty="0" err="1"/>
              <a:t>vyplývá</a:t>
            </a:r>
            <a:r>
              <a:rPr lang="en-GB" altLang="zh-TW" dirty="0"/>
              <a:t> v </a:t>
            </a:r>
            <a:r>
              <a:rPr lang="en-GB" altLang="zh-TW" dirty="0" err="1"/>
              <a:t>grafech</a:t>
            </a:r>
            <a:r>
              <a:rPr lang="en-GB" altLang="zh-TW" dirty="0"/>
              <a:t>.</a:t>
            </a:r>
            <a:br>
              <a:rPr lang="en-GB" altLang="zh-TW" dirty="0"/>
            </a:br>
            <a:r>
              <a:rPr lang="en-GB" altLang="zh-TW" dirty="0" err="1"/>
              <a:t>Tady</a:t>
            </a:r>
            <a:r>
              <a:rPr lang="en-GB" altLang="zh-TW" dirty="0"/>
              <a:t> </a:t>
            </a:r>
            <a:r>
              <a:rPr lang="en-GB" altLang="zh-TW" dirty="0" err="1"/>
              <a:t>vidíte</a:t>
            </a:r>
            <a:r>
              <a:rPr lang="en-GB" altLang="zh-TW" dirty="0"/>
              <a:t> </a:t>
            </a:r>
            <a:r>
              <a:rPr lang="en-GB" altLang="zh-TW" dirty="0" err="1"/>
              <a:t>tři</a:t>
            </a:r>
            <a:r>
              <a:rPr lang="en-GB" altLang="zh-TW" dirty="0"/>
              <a:t> </a:t>
            </a:r>
            <a:r>
              <a:rPr lang="en-GB" altLang="zh-TW" dirty="0" err="1"/>
              <a:t>základní</a:t>
            </a:r>
            <a:r>
              <a:rPr lang="en-GB" altLang="zh-TW" dirty="0"/>
              <a:t> </a:t>
            </a:r>
            <a:r>
              <a:rPr lang="en-GB" altLang="zh-TW" dirty="0" err="1"/>
              <a:t>funkce</a:t>
            </a:r>
            <a:r>
              <a:rPr lang="en-GB" altLang="zh-TW" dirty="0"/>
              <a:t> – </a:t>
            </a:r>
            <a:r>
              <a:rPr lang="en-GB" altLang="zh-TW" b="1" dirty="0" err="1"/>
              <a:t>užitkovou</a:t>
            </a:r>
            <a:r>
              <a:rPr lang="en-GB" altLang="zh-TW" b="1" dirty="0"/>
              <a:t> </a:t>
            </a:r>
            <a:r>
              <a:rPr lang="en-GB" altLang="zh-TW" b="1" dirty="0" err="1"/>
              <a:t>funkci</a:t>
            </a:r>
            <a:r>
              <a:rPr lang="en-GB" altLang="zh-TW" dirty="0"/>
              <a:t>, </a:t>
            </a:r>
            <a:r>
              <a:rPr lang="en-GB" altLang="zh-TW" b="1" dirty="0" err="1"/>
              <a:t>rozpočtové</a:t>
            </a:r>
            <a:r>
              <a:rPr lang="en-GB" altLang="zh-TW" b="1" dirty="0"/>
              <a:t> </a:t>
            </a:r>
            <a:r>
              <a:rPr lang="en-GB" altLang="zh-TW" b="1" dirty="0" err="1"/>
              <a:t>omezení</a:t>
            </a:r>
            <a:r>
              <a:rPr lang="en-GB" altLang="zh-TW" dirty="0"/>
              <a:t> a </a:t>
            </a:r>
            <a:r>
              <a:rPr lang="en-GB" altLang="zh-TW" b="1" dirty="0" err="1"/>
              <a:t>Lagrangeovu</a:t>
            </a:r>
            <a:r>
              <a:rPr lang="en-GB" altLang="zh-TW" b="1" dirty="0"/>
              <a:t> </a:t>
            </a:r>
            <a:r>
              <a:rPr lang="en-GB" altLang="zh-TW" b="1" dirty="0" err="1"/>
              <a:t>funkci</a:t>
            </a:r>
            <a:r>
              <a:rPr lang="en-GB" altLang="zh-TW" dirty="0"/>
              <a:t>, </a:t>
            </a:r>
            <a:r>
              <a:rPr lang="en-GB" altLang="zh-TW" dirty="0" err="1"/>
              <a:t>které</a:t>
            </a:r>
            <a:r>
              <a:rPr lang="en-GB" altLang="zh-TW" dirty="0"/>
              <a:t> </a:t>
            </a:r>
            <a:r>
              <a:rPr lang="en-GB" altLang="zh-TW" dirty="0" err="1"/>
              <a:t>spolu</a:t>
            </a:r>
            <a:r>
              <a:rPr lang="en-GB" altLang="zh-TW" dirty="0"/>
              <a:t> </a:t>
            </a:r>
            <a:r>
              <a:rPr lang="en-GB" altLang="zh-TW" dirty="0" err="1"/>
              <a:t>tvoří</a:t>
            </a:r>
            <a:r>
              <a:rPr lang="en-GB" altLang="zh-TW" dirty="0"/>
              <a:t> </a:t>
            </a:r>
            <a:r>
              <a:rPr lang="en-GB" altLang="zh-TW" dirty="0" err="1"/>
              <a:t>základ</a:t>
            </a:r>
            <a:r>
              <a:rPr lang="en-GB" altLang="zh-TW" dirty="0"/>
              <a:t> </a:t>
            </a:r>
            <a:r>
              <a:rPr lang="en-GB" altLang="zh-TW" dirty="0" err="1"/>
              <a:t>celého</a:t>
            </a:r>
            <a:r>
              <a:rPr lang="en-GB" altLang="zh-TW" dirty="0"/>
              <a:t> </a:t>
            </a:r>
            <a:r>
              <a:rPr lang="en-GB" altLang="zh-TW" dirty="0" err="1"/>
              <a:t>modelu</a:t>
            </a:r>
            <a:r>
              <a:rPr lang="en-GB" altLang="zh-TW" dirty="0"/>
              <a:t>.“</a:t>
            </a:r>
          </a:p>
          <a:p>
            <a:r>
              <a:rPr lang="zh-TW" altLang="en-US" b="1" dirty="0"/>
              <a:t>💬 中文提示說明：</a:t>
            </a:r>
          </a:p>
          <a:p>
            <a:r>
              <a:rPr lang="zh-TW" altLang="en-US" dirty="0"/>
              <a:t>「這一頁是我的消費籃子（</a:t>
            </a:r>
            <a:r>
              <a:rPr lang="en-GB" altLang="zh-TW" dirty="0" err="1"/>
              <a:t>spotřební</a:t>
            </a:r>
            <a:r>
              <a:rPr lang="en-GB" altLang="zh-TW" dirty="0"/>
              <a:t> </a:t>
            </a:r>
            <a:r>
              <a:rPr lang="en-GB" altLang="zh-TW" dirty="0" err="1"/>
              <a:t>koš</a:t>
            </a:r>
            <a:r>
              <a:rPr lang="zh-TW" altLang="en-GB" dirty="0"/>
              <a:t>），</a:t>
            </a:r>
            <a:r>
              <a:rPr lang="zh-TW" altLang="en-US" dirty="0"/>
              <a:t>我選的商品是馬鈴薯和米。</a:t>
            </a:r>
            <a:br>
              <a:rPr lang="zh-TW" altLang="en-US" dirty="0"/>
            </a:br>
            <a:r>
              <a:rPr lang="zh-TW" altLang="en-US" dirty="0"/>
              <a:t>這裡所有的數字我都已經在 </a:t>
            </a:r>
            <a:r>
              <a:rPr lang="en-GB" altLang="zh-TW" dirty="0"/>
              <a:t>Excel </a:t>
            </a:r>
            <a:r>
              <a:rPr lang="zh-TW" altLang="en-US" dirty="0"/>
              <a:t>算好了，接下來幾頁我會用圖形一步步介紹結果。</a:t>
            </a:r>
            <a:br>
              <a:rPr lang="zh-TW" altLang="en-US" dirty="0"/>
            </a:br>
            <a:r>
              <a:rPr lang="zh-TW" altLang="en-US" dirty="0"/>
              <a:t>這裡有三個基本函數：效用函數、預算限制、以及拉格朗日函數，它們是這個模型的基礎。」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968989-46C8-4564-A19D-E3F92BD6A51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78488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TW" dirty="0"/>
              <a:t>„</a:t>
            </a:r>
            <a:r>
              <a:rPr lang="en-GB" altLang="zh-TW" dirty="0" err="1"/>
              <a:t>Tady</a:t>
            </a:r>
            <a:r>
              <a:rPr lang="en-GB" altLang="zh-TW" dirty="0"/>
              <a:t> je </a:t>
            </a:r>
            <a:r>
              <a:rPr lang="en-GB" altLang="zh-TW" dirty="0" err="1"/>
              <a:t>moje</a:t>
            </a:r>
            <a:r>
              <a:rPr lang="en-GB" altLang="zh-TW" dirty="0"/>
              <a:t> </a:t>
            </a:r>
            <a:r>
              <a:rPr lang="en-GB" altLang="zh-TW" b="1" dirty="0" err="1"/>
              <a:t>užitková</a:t>
            </a:r>
            <a:r>
              <a:rPr lang="en-GB" altLang="zh-TW" b="1" dirty="0"/>
              <a:t> </a:t>
            </a:r>
            <a:r>
              <a:rPr lang="en-GB" altLang="zh-TW" b="1" dirty="0" err="1"/>
              <a:t>funkce</a:t>
            </a:r>
            <a:r>
              <a:rPr lang="en-GB" altLang="zh-TW" dirty="0"/>
              <a:t>.</a:t>
            </a:r>
            <a:br>
              <a:rPr lang="en-GB" altLang="zh-TW" dirty="0"/>
            </a:br>
            <a:r>
              <a:rPr lang="en-GB" altLang="zh-TW" dirty="0" err="1"/>
              <a:t>Vidíte</a:t>
            </a:r>
            <a:r>
              <a:rPr lang="en-GB" altLang="zh-TW" dirty="0"/>
              <a:t>, </a:t>
            </a:r>
            <a:r>
              <a:rPr lang="en-GB" altLang="zh-TW" dirty="0" err="1"/>
              <a:t>že</a:t>
            </a:r>
            <a:r>
              <a:rPr lang="en-GB" altLang="zh-TW" dirty="0"/>
              <a:t> </a:t>
            </a:r>
            <a:r>
              <a:rPr lang="en-GB" altLang="zh-TW" dirty="0" err="1"/>
              <a:t>má</a:t>
            </a:r>
            <a:r>
              <a:rPr lang="en-GB" altLang="zh-TW" dirty="0"/>
              <a:t> </a:t>
            </a:r>
            <a:r>
              <a:rPr lang="en-GB" altLang="zh-TW" dirty="0" err="1"/>
              <a:t>tvar</a:t>
            </a:r>
            <a:r>
              <a:rPr lang="en-GB" altLang="zh-TW" dirty="0"/>
              <a:t> </a:t>
            </a:r>
            <a:r>
              <a:rPr lang="en-GB" altLang="zh-TW" b="1" dirty="0"/>
              <a:t>U(x, y) = x </a:t>
            </a:r>
            <a:r>
              <a:rPr lang="en-GB" altLang="zh-TW" b="1" dirty="0" err="1"/>
              <a:t>na</a:t>
            </a:r>
            <a:r>
              <a:rPr lang="en-GB" altLang="zh-TW" b="1" dirty="0"/>
              <a:t> 0,77 </a:t>
            </a:r>
            <a:r>
              <a:rPr lang="en-GB" altLang="zh-TW" b="1" dirty="0" err="1"/>
              <a:t>krát</a:t>
            </a:r>
            <a:r>
              <a:rPr lang="en-GB" altLang="zh-TW" b="1" dirty="0"/>
              <a:t> y </a:t>
            </a:r>
            <a:r>
              <a:rPr lang="en-GB" altLang="zh-TW" b="1" dirty="0" err="1"/>
              <a:t>na</a:t>
            </a:r>
            <a:r>
              <a:rPr lang="en-GB" altLang="zh-TW" b="1" dirty="0"/>
              <a:t> 0,23</a:t>
            </a:r>
            <a:r>
              <a:rPr lang="en-GB" altLang="zh-TW" dirty="0"/>
              <a:t>.</a:t>
            </a:r>
            <a:br>
              <a:rPr lang="en-GB" altLang="zh-TW" dirty="0"/>
            </a:br>
            <a:r>
              <a:rPr lang="en-GB" altLang="zh-TW" dirty="0"/>
              <a:t>To </a:t>
            </a:r>
            <a:r>
              <a:rPr lang="en-GB" altLang="zh-TW" dirty="0" err="1"/>
              <a:t>znamená</a:t>
            </a:r>
            <a:r>
              <a:rPr lang="en-GB" altLang="zh-TW" dirty="0"/>
              <a:t>, </a:t>
            </a:r>
            <a:r>
              <a:rPr lang="en-GB" altLang="zh-TW" dirty="0" err="1"/>
              <a:t>že</a:t>
            </a:r>
            <a:r>
              <a:rPr lang="en-GB" altLang="zh-TW" dirty="0"/>
              <a:t> </a:t>
            </a:r>
            <a:r>
              <a:rPr lang="en-GB" altLang="zh-TW" b="1" dirty="0" err="1"/>
              <a:t>brambory</a:t>
            </a:r>
            <a:r>
              <a:rPr lang="en-GB" altLang="zh-TW" dirty="0"/>
              <a:t> </a:t>
            </a:r>
            <a:r>
              <a:rPr lang="en-GB" altLang="zh-TW" dirty="0" err="1"/>
              <a:t>mají</a:t>
            </a:r>
            <a:r>
              <a:rPr lang="en-GB" altLang="zh-TW" dirty="0"/>
              <a:t> </a:t>
            </a:r>
            <a:r>
              <a:rPr lang="en-GB" altLang="zh-TW" dirty="0" err="1"/>
              <a:t>větší</a:t>
            </a:r>
            <a:r>
              <a:rPr lang="en-GB" altLang="zh-TW" dirty="0"/>
              <a:t> </a:t>
            </a:r>
            <a:r>
              <a:rPr lang="en-GB" altLang="zh-TW" dirty="0" err="1"/>
              <a:t>váhu</a:t>
            </a:r>
            <a:r>
              <a:rPr lang="en-GB" altLang="zh-TW" dirty="0"/>
              <a:t> v </a:t>
            </a:r>
            <a:r>
              <a:rPr lang="en-GB" altLang="zh-TW" dirty="0" err="1"/>
              <a:t>mé</a:t>
            </a:r>
            <a:r>
              <a:rPr lang="en-GB" altLang="zh-TW" dirty="0"/>
              <a:t> </a:t>
            </a:r>
            <a:r>
              <a:rPr lang="en-GB" altLang="zh-TW" dirty="0" err="1"/>
              <a:t>funkci</a:t>
            </a:r>
            <a:r>
              <a:rPr lang="en-GB" altLang="zh-TW" dirty="0"/>
              <a:t> </a:t>
            </a:r>
            <a:r>
              <a:rPr lang="en-GB" altLang="zh-TW" dirty="0" err="1"/>
              <a:t>užitku</a:t>
            </a:r>
            <a:r>
              <a:rPr lang="en-GB" altLang="zh-TW" dirty="0"/>
              <a:t> </a:t>
            </a:r>
            <a:r>
              <a:rPr lang="en-GB" altLang="zh-TW" dirty="0" err="1"/>
              <a:t>než</a:t>
            </a:r>
            <a:r>
              <a:rPr lang="en-GB" altLang="zh-TW" dirty="0"/>
              <a:t> </a:t>
            </a:r>
            <a:r>
              <a:rPr lang="en-GB" altLang="zh-TW" b="1" dirty="0" err="1"/>
              <a:t>rýže</a:t>
            </a:r>
            <a:r>
              <a:rPr lang="en-GB" altLang="zh-TW" dirty="0"/>
              <a:t>,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968989-46C8-4564-A19D-E3F92BD6A51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54366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TW" dirty="0"/>
              <a:t>„</a:t>
            </a:r>
            <a:r>
              <a:rPr lang="en-GB" altLang="zh-TW" dirty="0" err="1"/>
              <a:t>Tady</a:t>
            </a:r>
            <a:r>
              <a:rPr lang="en-GB" altLang="zh-TW" dirty="0"/>
              <a:t> </a:t>
            </a:r>
            <a:r>
              <a:rPr lang="en-GB" altLang="zh-TW" dirty="0" err="1"/>
              <a:t>vidíte</a:t>
            </a:r>
            <a:r>
              <a:rPr lang="en-GB" altLang="zh-TW" dirty="0"/>
              <a:t> </a:t>
            </a:r>
            <a:r>
              <a:rPr lang="en-GB" altLang="zh-TW" dirty="0" err="1"/>
              <a:t>modrou</a:t>
            </a:r>
            <a:r>
              <a:rPr lang="en-GB" altLang="zh-TW" dirty="0"/>
              <a:t> oblast – to je </a:t>
            </a:r>
            <a:r>
              <a:rPr lang="en-GB" altLang="zh-TW" dirty="0" err="1"/>
              <a:t>celý</a:t>
            </a:r>
            <a:r>
              <a:rPr lang="en-GB" altLang="zh-TW" dirty="0"/>
              <a:t> </a:t>
            </a:r>
            <a:r>
              <a:rPr lang="en-GB" altLang="zh-TW" b="1" dirty="0" err="1"/>
              <a:t>rozpočet</a:t>
            </a:r>
            <a:r>
              <a:rPr lang="en-GB" altLang="zh-TW" dirty="0"/>
              <a:t>, </a:t>
            </a:r>
            <a:r>
              <a:rPr lang="en-GB" altLang="zh-TW" dirty="0" err="1"/>
              <a:t>všechno</a:t>
            </a:r>
            <a:r>
              <a:rPr lang="en-GB" altLang="zh-TW" dirty="0"/>
              <a:t>, co </a:t>
            </a:r>
            <a:r>
              <a:rPr lang="en-GB" altLang="zh-TW" dirty="0" err="1"/>
              <a:t>si</a:t>
            </a:r>
            <a:r>
              <a:rPr lang="en-GB" altLang="zh-TW" dirty="0"/>
              <a:t> </a:t>
            </a:r>
            <a:r>
              <a:rPr lang="en-GB" altLang="zh-TW" dirty="0" err="1"/>
              <a:t>můžeme</a:t>
            </a:r>
            <a:r>
              <a:rPr lang="en-GB" altLang="zh-TW" dirty="0"/>
              <a:t> </a:t>
            </a:r>
            <a:r>
              <a:rPr lang="en-GB" altLang="zh-TW" dirty="0" err="1"/>
              <a:t>dovolit</a:t>
            </a:r>
            <a:r>
              <a:rPr lang="en-GB" altLang="zh-TW" dirty="0"/>
              <a:t>.</a:t>
            </a:r>
            <a:br>
              <a:rPr lang="en-GB" altLang="zh-TW" dirty="0"/>
            </a:br>
            <a:r>
              <a:rPr lang="en-GB" altLang="zh-TW" dirty="0"/>
              <a:t>Ta </a:t>
            </a:r>
            <a:r>
              <a:rPr lang="en-GB" altLang="zh-TW" b="1" dirty="0" err="1"/>
              <a:t>modrá</a:t>
            </a:r>
            <a:r>
              <a:rPr lang="en-GB" altLang="zh-TW" b="1" dirty="0"/>
              <a:t> </a:t>
            </a:r>
            <a:r>
              <a:rPr lang="en-GB" altLang="zh-TW" b="1" dirty="0" err="1"/>
              <a:t>čára</a:t>
            </a:r>
            <a:r>
              <a:rPr lang="en-GB" altLang="zh-TW" dirty="0"/>
              <a:t> </a:t>
            </a:r>
            <a:r>
              <a:rPr lang="en-GB" altLang="zh-TW" dirty="0" err="1"/>
              <a:t>na</a:t>
            </a:r>
            <a:r>
              <a:rPr lang="en-GB" altLang="zh-TW" dirty="0"/>
              <a:t> </a:t>
            </a:r>
            <a:r>
              <a:rPr lang="en-GB" altLang="zh-TW" dirty="0" err="1"/>
              <a:t>hraně</a:t>
            </a:r>
            <a:r>
              <a:rPr lang="en-GB" altLang="zh-TW" dirty="0"/>
              <a:t> </a:t>
            </a:r>
            <a:r>
              <a:rPr lang="en-GB" altLang="zh-TW" dirty="0" err="1"/>
              <a:t>oblasti</a:t>
            </a:r>
            <a:r>
              <a:rPr lang="en-GB" altLang="zh-TW" dirty="0"/>
              <a:t> </a:t>
            </a:r>
            <a:r>
              <a:rPr lang="en-GB" altLang="zh-TW" dirty="0" err="1"/>
              <a:t>znamená</a:t>
            </a:r>
            <a:r>
              <a:rPr lang="en-GB" altLang="zh-TW" dirty="0"/>
              <a:t>, </a:t>
            </a:r>
            <a:r>
              <a:rPr lang="en-GB" altLang="zh-TW" dirty="0" err="1"/>
              <a:t>že</a:t>
            </a:r>
            <a:r>
              <a:rPr lang="en-GB" altLang="zh-TW" dirty="0"/>
              <a:t> </a:t>
            </a:r>
            <a:r>
              <a:rPr lang="en-GB" altLang="zh-TW" dirty="0" err="1"/>
              <a:t>celý</a:t>
            </a:r>
            <a:r>
              <a:rPr lang="en-GB" altLang="zh-TW" dirty="0"/>
              <a:t> </a:t>
            </a:r>
            <a:r>
              <a:rPr lang="en-GB" altLang="zh-TW" dirty="0" err="1"/>
              <a:t>rozpočet</a:t>
            </a:r>
            <a:r>
              <a:rPr lang="en-GB" altLang="zh-TW" dirty="0"/>
              <a:t> je </a:t>
            </a:r>
            <a:r>
              <a:rPr lang="en-GB" altLang="zh-TW" dirty="0" err="1"/>
              <a:t>využit</a:t>
            </a:r>
            <a:r>
              <a:rPr lang="en-GB" altLang="zh-TW" dirty="0"/>
              <a:t> – to je ta </a:t>
            </a:r>
            <a:r>
              <a:rPr lang="en-GB" altLang="zh-TW" dirty="0" err="1"/>
              <a:t>rovnice</a:t>
            </a:r>
            <a:r>
              <a:rPr lang="en-GB" altLang="zh-TW" dirty="0"/>
              <a:t> </a:t>
            </a:r>
            <a:r>
              <a:rPr lang="en-GB" altLang="zh-TW" b="1" dirty="0"/>
              <a:t>11,59x + 43,06y = 1025</a:t>
            </a:r>
            <a:r>
              <a:rPr lang="en-GB" altLang="zh-TW" dirty="0"/>
              <a:t>.</a:t>
            </a:r>
            <a:br>
              <a:rPr lang="en-GB" altLang="zh-TW" dirty="0"/>
            </a:br>
            <a:r>
              <a:rPr lang="en-GB" altLang="zh-TW" dirty="0"/>
              <a:t>A </a:t>
            </a:r>
            <a:r>
              <a:rPr lang="en-GB" altLang="zh-TW" b="1" dirty="0"/>
              <a:t>tam, </a:t>
            </a:r>
            <a:r>
              <a:rPr lang="en-GB" altLang="zh-TW" b="1" dirty="0" err="1"/>
              <a:t>kde</a:t>
            </a:r>
            <a:r>
              <a:rPr lang="en-GB" altLang="zh-TW" b="1" dirty="0"/>
              <a:t> se </a:t>
            </a:r>
            <a:r>
              <a:rPr lang="en-GB" altLang="zh-TW" b="1" dirty="0" err="1"/>
              <a:t>modrá</a:t>
            </a:r>
            <a:r>
              <a:rPr lang="en-GB" altLang="zh-TW" b="1" dirty="0"/>
              <a:t> </a:t>
            </a:r>
            <a:r>
              <a:rPr lang="en-GB" altLang="zh-TW" b="1" dirty="0" err="1"/>
              <a:t>čára</a:t>
            </a:r>
            <a:r>
              <a:rPr lang="en-GB" altLang="zh-TW" b="1" dirty="0"/>
              <a:t> </a:t>
            </a:r>
            <a:r>
              <a:rPr lang="en-GB" altLang="zh-TW" b="1" dirty="0" err="1"/>
              <a:t>protíná</a:t>
            </a:r>
            <a:r>
              <a:rPr lang="en-GB" altLang="zh-TW" b="1" dirty="0"/>
              <a:t> s </a:t>
            </a:r>
            <a:r>
              <a:rPr lang="en-GB" altLang="zh-TW" b="1" dirty="0" err="1"/>
              <a:t>červenou</a:t>
            </a:r>
            <a:r>
              <a:rPr lang="en-GB" altLang="zh-TW" b="1" dirty="0"/>
              <a:t> </a:t>
            </a:r>
            <a:r>
              <a:rPr lang="en-GB" altLang="zh-TW" b="1" dirty="0" err="1"/>
              <a:t>křivkou</a:t>
            </a:r>
            <a:r>
              <a:rPr lang="en-GB" altLang="zh-TW" dirty="0"/>
              <a:t>, </a:t>
            </a:r>
            <a:r>
              <a:rPr lang="en-GB" altLang="zh-TW" dirty="0" err="1"/>
              <a:t>máme</a:t>
            </a:r>
            <a:r>
              <a:rPr lang="en-GB" altLang="zh-TW" dirty="0"/>
              <a:t> </a:t>
            </a:r>
            <a:r>
              <a:rPr lang="en-GB" altLang="zh-TW" b="1" dirty="0" err="1"/>
              <a:t>optimální</a:t>
            </a:r>
            <a:r>
              <a:rPr lang="en-GB" altLang="zh-TW" b="1" dirty="0"/>
              <a:t> bod </a:t>
            </a:r>
            <a:r>
              <a:rPr lang="en-GB" altLang="zh-TW" b="1" dirty="0" err="1"/>
              <a:t>spotřeby</a:t>
            </a:r>
            <a:r>
              <a:rPr lang="en-GB" altLang="zh-TW" dirty="0"/>
              <a:t>.“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968989-46C8-4564-A19D-E3F92BD6A515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79191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TW" dirty="0" err="1"/>
              <a:t>Tady</a:t>
            </a:r>
            <a:r>
              <a:rPr lang="en-GB" altLang="zh-TW" dirty="0"/>
              <a:t> je </a:t>
            </a:r>
            <a:r>
              <a:rPr lang="en-GB" altLang="zh-TW" dirty="0" err="1"/>
              <a:t>Lagrangeova</a:t>
            </a:r>
            <a:r>
              <a:rPr lang="en-GB" altLang="zh-TW" dirty="0"/>
              <a:t> </a:t>
            </a:r>
            <a:r>
              <a:rPr lang="en-GB" altLang="zh-TW" dirty="0" err="1"/>
              <a:t>funkce</a:t>
            </a:r>
            <a:r>
              <a:rPr lang="en-GB" altLang="zh-TW" dirty="0"/>
              <a:t>, </a:t>
            </a:r>
            <a:r>
              <a:rPr lang="en-GB" altLang="zh-TW" dirty="0" err="1"/>
              <a:t>kterou</a:t>
            </a:r>
            <a:r>
              <a:rPr lang="en-GB" altLang="zh-TW" dirty="0"/>
              <a:t> </a:t>
            </a:r>
            <a:r>
              <a:rPr lang="en-GB" altLang="zh-TW" dirty="0" err="1"/>
              <a:t>jsem</a:t>
            </a:r>
            <a:r>
              <a:rPr lang="en-GB" altLang="zh-TW" dirty="0"/>
              <a:t> </a:t>
            </a:r>
            <a:r>
              <a:rPr lang="en-GB" altLang="zh-TW" dirty="0" err="1"/>
              <a:t>použila</a:t>
            </a:r>
            <a:r>
              <a:rPr lang="en-GB" altLang="zh-TW" dirty="0"/>
              <a:t> pro </a:t>
            </a:r>
            <a:r>
              <a:rPr lang="en-GB" altLang="zh-TW" dirty="0" err="1"/>
              <a:t>výpočet</a:t>
            </a:r>
            <a:r>
              <a:rPr lang="en-GB" altLang="zh-TW" dirty="0"/>
              <a:t> </a:t>
            </a:r>
            <a:r>
              <a:rPr lang="en-GB" altLang="zh-TW" dirty="0" err="1"/>
              <a:t>optimálního</a:t>
            </a:r>
            <a:r>
              <a:rPr lang="en-GB" altLang="zh-TW" dirty="0"/>
              <a:t> </a:t>
            </a:r>
            <a:r>
              <a:rPr lang="en-GB" altLang="zh-TW" dirty="0" err="1"/>
              <a:t>koše</a:t>
            </a:r>
            <a:r>
              <a:rPr lang="en-GB" altLang="zh-TW" dirty="0"/>
              <a:t>. </a:t>
            </a:r>
            <a:r>
              <a:rPr lang="en-GB" altLang="zh-TW" dirty="0" err="1"/>
              <a:t>Pomocí</a:t>
            </a:r>
            <a:r>
              <a:rPr lang="en-GB" altLang="zh-TW" dirty="0"/>
              <a:t> </a:t>
            </a:r>
            <a:r>
              <a:rPr lang="en-GB" altLang="zh-TW" dirty="0" err="1"/>
              <a:t>Wolframu</a:t>
            </a:r>
            <a:r>
              <a:rPr lang="en-GB" altLang="zh-TW" dirty="0"/>
              <a:t> </a:t>
            </a:r>
            <a:r>
              <a:rPr lang="en-GB" altLang="zh-TW" dirty="0" err="1"/>
              <a:t>jsem</a:t>
            </a:r>
            <a:r>
              <a:rPr lang="en-GB" altLang="zh-TW" dirty="0"/>
              <a:t> </a:t>
            </a:r>
            <a:r>
              <a:rPr lang="en-GB" altLang="zh-TW" dirty="0" err="1"/>
              <a:t>potom</a:t>
            </a:r>
            <a:r>
              <a:rPr lang="en-GB" altLang="zh-TW" dirty="0"/>
              <a:t> </a:t>
            </a:r>
            <a:r>
              <a:rPr lang="en-GB" altLang="zh-TW" dirty="0" err="1"/>
              <a:t>nechala</a:t>
            </a:r>
            <a:r>
              <a:rPr lang="en-GB" altLang="zh-TW" dirty="0"/>
              <a:t> </a:t>
            </a:r>
            <a:r>
              <a:rPr lang="en-GB" altLang="zh-TW" dirty="0" err="1"/>
              <a:t>systém</a:t>
            </a:r>
            <a:r>
              <a:rPr lang="en-GB" altLang="zh-TW" dirty="0"/>
              <a:t> </a:t>
            </a:r>
            <a:r>
              <a:rPr lang="en-GB" altLang="zh-TW" dirty="0" err="1"/>
              <a:t>vyřešit</a:t>
            </a:r>
            <a:r>
              <a:rPr lang="en-GB" altLang="zh-TW" dirty="0"/>
              <a:t> </a:t>
            </a:r>
            <a:r>
              <a:rPr lang="en-GB" altLang="zh-TW" dirty="0" err="1"/>
              <a:t>tři</a:t>
            </a:r>
            <a:r>
              <a:rPr lang="en-GB" altLang="zh-TW" dirty="0"/>
              <a:t> </a:t>
            </a:r>
            <a:r>
              <a:rPr lang="en-GB" altLang="zh-TW" dirty="0" err="1"/>
              <a:t>rovnice</a:t>
            </a:r>
            <a:r>
              <a:rPr lang="en-GB" altLang="zh-TW" dirty="0"/>
              <a:t> a </a:t>
            </a:r>
            <a:r>
              <a:rPr lang="en-GB" altLang="zh-TW" dirty="0" err="1"/>
              <a:t>dostala</a:t>
            </a:r>
            <a:r>
              <a:rPr lang="en-GB" altLang="zh-TW" dirty="0"/>
              <a:t> </a:t>
            </a:r>
            <a:r>
              <a:rPr lang="en-GB" altLang="zh-TW" dirty="0" err="1"/>
              <a:t>jsem</a:t>
            </a:r>
            <a:r>
              <a:rPr lang="en-GB" altLang="zh-TW" dirty="0"/>
              <a:t> </a:t>
            </a:r>
            <a:r>
              <a:rPr lang="en-GB" altLang="zh-TW" dirty="0" err="1"/>
              <a:t>optimální</a:t>
            </a:r>
            <a:r>
              <a:rPr lang="en-GB" altLang="zh-TW" dirty="0"/>
              <a:t> </a:t>
            </a:r>
            <a:r>
              <a:rPr lang="en-GB" altLang="zh-TW" dirty="0" err="1"/>
              <a:t>hodnoty</a:t>
            </a:r>
            <a:r>
              <a:rPr lang="en-GB" altLang="zh-TW" dirty="0"/>
              <a:t> x a y, </a:t>
            </a:r>
            <a:r>
              <a:rPr lang="en-GB" altLang="zh-TW" dirty="0" err="1"/>
              <a:t>které</a:t>
            </a:r>
            <a:r>
              <a:rPr lang="en-GB" altLang="zh-TW" dirty="0"/>
              <a:t> </a:t>
            </a:r>
            <a:r>
              <a:rPr lang="en-GB" altLang="zh-TW" dirty="0" err="1"/>
              <a:t>jsou</a:t>
            </a:r>
            <a:r>
              <a:rPr lang="en-GB" altLang="zh-TW" dirty="0"/>
              <a:t> 63,18 a 5,47 To </a:t>
            </a:r>
            <a:r>
              <a:rPr lang="en-GB" altLang="zh-TW" dirty="0" err="1"/>
              <a:t>znamená</a:t>
            </a:r>
            <a:r>
              <a:rPr lang="en-GB" altLang="zh-TW" dirty="0"/>
              <a:t>: </a:t>
            </a:r>
            <a:r>
              <a:rPr lang="en-GB" altLang="zh-TW" dirty="0" err="1"/>
              <a:t>při</a:t>
            </a:r>
            <a:r>
              <a:rPr lang="en-GB" altLang="zh-TW" dirty="0"/>
              <a:t> </a:t>
            </a:r>
            <a:r>
              <a:rPr lang="en-GB" altLang="zh-TW" dirty="0" err="1"/>
              <a:t>daném</a:t>
            </a:r>
            <a:r>
              <a:rPr lang="en-GB" altLang="zh-TW" dirty="0"/>
              <a:t> </a:t>
            </a:r>
            <a:r>
              <a:rPr lang="en-GB" altLang="zh-TW" dirty="0" err="1"/>
              <a:t>rozpočtu</a:t>
            </a:r>
            <a:r>
              <a:rPr lang="en-GB" altLang="zh-TW" dirty="0"/>
              <a:t> 1025 </a:t>
            </a:r>
            <a:r>
              <a:rPr lang="en-GB" altLang="zh-TW" dirty="0" err="1"/>
              <a:t>Kč</a:t>
            </a:r>
            <a:r>
              <a:rPr lang="en-GB" altLang="zh-TW" dirty="0"/>
              <a:t> je </a:t>
            </a:r>
            <a:r>
              <a:rPr lang="en-GB" altLang="zh-TW" dirty="0" err="1"/>
              <a:t>tohle</a:t>
            </a:r>
            <a:r>
              <a:rPr lang="en-GB" altLang="zh-TW" dirty="0"/>
              <a:t> </a:t>
            </a:r>
            <a:r>
              <a:rPr lang="en-GB" altLang="zh-TW" dirty="0" err="1"/>
              <a:t>nejlepší</a:t>
            </a:r>
            <a:r>
              <a:rPr lang="en-GB" altLang="zh-TW" dirty="0"/>
              <a:t> </a:t>
            </a:r>
            <a:r>
              <a:rPr lang="en-GB" altLang="zh-TW" dirty="0" err="1"/>
              <a:t>možné</a:t>
            </a:r>
            <a:r>
              <a:rPr lang="en-GB" altLang="zh-TW" dirty="0"/>
              <a:t> </a:t>
            </a:r>
            <a:r>
              <a:rPr lang="en-GB" altLang="zh-TW" dirty="0" err="1"/>
              <a:t>množství</a:t>
            </a:r>
            <a:r>
              <a:rPr lang="en-GB" altLang="zh-TW" dirty="0"/>
              <a:t> </a:t>
            </a:r>
            <a:r>
              <a:rPr lang="en-GB" altLang="zh-TW" dirty="0" err="1"/>
              <a:t>brambor</a:t>
            </a:r>
            <a:r>
              <a:rPr lang="en-GB" altLang="zh-TW" dirty="0"/>
              <a:t> a </a:t>
            </a:r>
            <a:r>
              <a:rPr lang="en-GB" altLang="zh-TW" dirty="0" err="1"/>
              <a:t>rýže</a:t>
            </a:r>
            <a:r>
              <a:rPr lang="en-GB" altLang="zh-TW" dirty="0"/>
              <a:t>. </a:t>
            </a:r>
            <a:r>
              <a:rPr lang="en-GB" altLang="zh-TW" dirty="0" err="1"/>
              <a:t>Jeho</a:t>
            </a:r>
            <a:r>
              <a:rPr lang="en-GB" altLang="zh-TW" dirty="0"/>
              <a:t> </a:t>
            </a:r>
            <a:r>
              <a:rPr lang="en-GB" altLang="zh-TW" dirty="0" err="1"/>
              <a:t>Užitkek</a:t>
            </a:r>
            <a:r>
              <a:rPr lang="en-GB" altLang="zh-TW" dirty="0"/>
              <a:t> v </a:t>
            </a:r>
            <a:r>
              <a:rPr lang="en-GB" altLang="zh-TW" dirty="0" err="1"/>
              <a:t>optimu</a:t>
            </a:r>
            <a:r>
              <a:rPr lang="en-GB" altLang="zh-TW" dirty="0"/>
              <a:t> U je 38,17. 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968989-46C8-4564-A19D-E3F92BD6A515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12103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TW" dirty="0"/>
              <a:t>Na </a:t>
            </a:r>
            <a:r>
              <a:rPr lang="en-GB" altLang="zh-TW" dirty="0" err="1"/>
              <a:t>tomto</a:t>
            </a:r>
            <a:r>
              <a:rPr lang="en-GB" altLang="zh-TW" dirty="0"/>
              <a:t> </a:t>
            </a:r>
            <a:r>
              <a:rPr lang="en-GB" altLang="zh-TW" dirty="0" err="1"/>
              <a:t>snímku</a:t>
            </a:r>
            <a:r>
              <a:rPr lang="en-GB" altLang="zh-TW" dirty="0"/>
              <a:t> </a:t>
            </a:r>
            <a:r>
              <a:rPr lang="en-GB" altLang="zh-TW" dirty="0" err="1"/>
              <a:t>mám</a:t>
            </a:r>
            <a:r>
              <a:rPr lang="en-GB" altLang="zh-TW" dirty="0"/>
              <a:t> </a:t>
            </a:r>
            <a:r>
              <a:rPr lang="en-GB" altLang="zh-TW" dirty="0" err="1"/>
              <a:t>stejnou</a:t>
            </a:r>
            <a:r>
              <a:rPr lang="en-GB" altLang="zh-TW" dirty="0"/>
              <a:t> </a:t>
            </a:r>
            <a:r>
              <a:rPr lang="en-GB" altLang="zh-TW" b="1" dirty="0" err="1"/>
              <a:t>Lagrangeovu</a:t>
            </a:r>
            <a:r>
              <a:rPr lang="en-GB" altLang="zh-TW" b="1" dirty="0"/>
              <a:t> </a:t>
            </a:r>
            <a:r>
              <a:rPr lang="en-GB" altLang="zh-TW" b="1" dirty="0" err="1"/>
              <a:t>funkci</a:t>
            </a:r>
            <a:r>
              <a:rPr lang="en-GB" altLang="zh-TW" dirty="0"/>
              <a:t>,</a:t>
            </a:r>
            <a:br>
              <a:rPr lang="en-GB" altLang="zh-TW" dirty="0"/>
            </a:br>
            <a:r>
              <a:rPr lang="en-GB" altLang="zh-TW" dirty="0"/>
              <a:t>ale </a:t>
            </a:r>
            <a:r>
              <a:rPr lang="en-GB" altLang="zh-TW" dirty="0" err="1"/>
              <a:t>tentokrát</a:t>
            </a:r>
            <a:r>
              <a:rPr lang="en-GB" altLang="zh-TW" dirty="0"/>
              <a:t> </a:t>
            </a:r>
            <a:r>
              <a:rPr lang="en-GB" altLang="zh-TW" dirty="0" err="1"/>
              <a:t>jsem</a:t>
            </a:r>
            <a:r>
              <a:rPr lang="en-GB" altLang="zh-TW" dirty="0"/>
              <a:t> </a:t>
            </a:r>
            <a:r>
              <a:rPr lang="en-GB" altLang="zh-TW" dirty="0" err="1"/>
              <a:t>ji</a:t>
            </a:r>
            <a:r>
              <a:rPr lang="en-GB" altLang="zh-TW" dirty="0"/>
              <a:t> </a:t>
            </a:r>
            <a:r>
              <a:rPr lang="en-GB" altLang="zh-TW" dirty="0" err="1"/>
              <a:t>zobrazila</a:t>
            </a:r>
            <a:r>
              <a:rPr lang="en-GB" altLang="zh-TW" dirty="0"/>
              <a:t> v </a:t>
            </a:r>
            <a:r>
              <a:rPr lang="en-GB" altLang="zh-TW" dirty="0" err="1"/>
              <a:t>programu</a:t>
            </a:r>
            <a:r>
              <a:rPr lang="en-GB" altLang="zh-TW" dirty="0"/>
              <a:t> </a:t>
            </a:r>
            <a:r>
              <a:rPr lang="en-GB" altLang="zh-TW" b="1" dirty="0" err="1"/>
              <a:t>GeoGebra</a:t>
            </a:r>
            <a:r>
              <a:rPr lang="en-GB" altLang="zh-TW" dirty="0"/>
              <a:t>.</a:t>
            </a:r>
            <a:br>
              <a:rPr lang="en-GB" altLang="zh-TW" dirty="0"/>
            </a:br>
            <a:r>
              <a:rPr lang="en-GB" altLang="zh-TW" dirty="0" err="1"/>
              <a:t>Tady</a:t>
            </a:r>
            <a:r>
              <a:rPr lang="en-GB" altLang="zh-TW" dirty="0"/>
              <a:t> je to </a:t>
            </a:r>
            <a:r>
              <a:rPr lang="en-GB" altLang="zh-TW" dirty="0" err="1"/>
              <a:t>vidět</a:t>
            </a:r>
            <a:r>
              <a:rPr lang="en-GB" altLang="zh-TW" dirty="0"/>
              <a:t> </a:t>
            </a:r>
            <a:r>
              <a:rPr lang="en-GB" altLang="zh-TW" dirty="0" err="1"/>
              <a:t>trochu</a:t>
            </a:r>
            <a:r>
              <a:rPr lang="en-GB" altLang="zh-TW" dirty="0"/>
              <a:t> </a:t>
            </a:r>
            <a:r>
              <a:rPr lang="en-GB" altLang="zh-TW" dirty="0" err="1"/>
              <a:t>jasněji</a:t>
            </a:r>
            <a:r>
              <a:rPr lang="en-GB" altLang="zh-TW" dirty="0"/>
              <a:t> –</a:t>
            </a:r>
            <a:br>
              <a:rPr lang="en-GB" altLang="zh-TW" dirty="0"/>
            </a:br>
            <a:r>
              <a:rPr lang="en-GB" altLang="zh-TW" b="1" dirty="0" err="1"/>
              <a:t>červená</a:t>
            </a:r>
            <a:r>
              <a:rPr lang="en-GB" altLang="zh-TW" b="1" dirty="0"/>
              <a:t> </a:t>
            </a:r>
            <a:r>
              <a:rPr lang="en-GB" altLang="zh-TW" b="1" dirty="0" err="1"/>
              <a:t>křivka</a:t>
            </a:r>
            <a:r>
              <a:rPr lang="en-GB" altLang="zh-TW" dirty="0"/>
              <a:t> </a:t>
            </a:r>
            <a:r>
              <a:rPr lang="en-GB" altLang="zh-TW" dirty="0" err="1"/>
              <a:t>představuje</a:t>
            </a:r>
            <a:r>
              <a:rPr lang="en-GB" altLang="zh-TW" dirty="0"/>
              <a:t> </a:t>
            </a:r>
            <a:r>
              <a:rPr lang="en-GB" altLang="zh-TW" dirty="0" err="1"/>
              <a:t>užitkovou</a:t>
            </a:r>
            <a:r>
              <a:rPr lang="en-GB" altLang="zh-TW" dirty="0"/>
              <a:t> </a:t>
            </a:r>
            <a:r>
              <a:rPr lang="en-GB" altLang="zh-TW" dirty="0" err="1"/>
              <a:t>funkci</a:t>
            </a:r>
            <a:br>
              <a:rPr lang="en-GB" altLang="zh-TW" dirty="0"/>
            </a:br>
            <a:r>
              <a:rPr lang="en-GB" altLang="zh-TW" dirty="0"/>
              <a:t>a </a:t>
            </a:r>
            <a:r>
              <a:rPr lang="en-GB" altLang="zh-TW" b="1" dirty="0" err="1"/>
              <a:t>modrá</a:t>
            </a:r>
            <a:r>
              <a:rPr lang="en-GB" altLang="zh-TW" b="1" dirty="0"/>
              <a:t> </a:t>
            </a:r>
            <a:r>
              <a:rPr lang="en-GB" altLang="zh-TW" b="1" dirty="0" err="1"/>
              <a:t>čára</a:t>
            </a:r>
            <a:r>
              <a:rPr lang="en-GB" altLang="zh-TW" dirty="0"/>
              <a:t> </a:t>
            </a:r>
            <a:r>
              <a:rPr lang="en-GB" altLang="zh-TW" dirty="0" err="1"/>
              <a:t>rozpočtové</a:t>
            </a:r>
            <a:r>
              <a:rPr lang="en-GB" altLang="zh-TW" dirty="0"/>
              <a:t> </a:t>
            </a:r>
            <a:r>
              <a:rPr lang="en-GB" altLang="zh-TW" dirty="0" err="1"/>
              <a:t>omezení</a:t>
            </a:r>
            <a:r>
              <a:rPr lang="en-GB" altLang="zh-TW" dirty="0"/>
              <a:t>.</a:t>
            </a:r>
            <a:br>
              <a:rPr lang="en-GB" altLang="zh-TW" dirty="0"/>
            </a:br>
            <a:r>
              <a:rPr lang="en-GB" altLang="zh-TW" dirty="0"/>
              <a:t>Tam, </a:t>
            </a:r>
            <a:r>
              <a:rPr lang="en-GB" altLang="zh-TW" dirty="0" err="1"/>
              <a:t>kde</a:t>
            </a:r>
            <a:r>
              <a:rPr lang="en-GB" altLang="zh-TW" dirty="0"/>
              <a:t> se </a:t>
            </a:r>
            <a:r>
              <a:rPr lang="en-GB" altLang="zh-TW" dirty="0" err="1"/>
              <a:t>tyto</a:t>
            </a:r>
            <a:r>
              <a:rPr lang="en-GB" altLang="zh-TW" dirty="0"/>
              <a:t> </a:t>
            </a:r>
            <a:r>
              <a:rPr lang="en-GB" altLang="zh-TW" dirty="0" err="1"/>
              <a:t>dvě</a:t>
            </a:r>
            <a:r>
              <a:rPr lang="en-GB" altLang="zh-TW" dirty="0"/>
              <a:t> </a:t>
            </a:r>
            <a:r>
              <a:rPr lang="en-GB" altLang="zh-TW" dirty="0" err="1"/>
              <a:t>křivky</a:t>
            </a:r>
            <a:r>
              <a:rPr lang="en-GB" altLang="zh-TW" dirty="0"/>
              <a:t> </a:t>
            </a:r>
            <a:r>
              <a:rPr lang="en-GB" altLang="zh-TW" dirty="0" err="1"/>
              <a:t>protínají</a:t>
            </a:r>
            <a:r>
              <a:rPr lang="en-GB" altLang="zh-TW" dirty="0"/>
              <a:t>,</a:t>
            </a:r>
            <a:br>
              <a:rPr lang="en-GB" altLang="zh-TW" dirty="0"/>
            </a:br>
            <a:r>
              <a:rPr lang="en-GB" altLang="zh-TW" dirty="0" err="1"/>
              <a:t>máme</a:t>
            </a:r>
            <a:r>
              <a:rPr lang="en-GB" altLang="zh-TW" dirty="0"/>
              <a:t> </a:t>
            </a:r>
            <a:r>
              <a:rPr lang="en-GB" altLang="zh-TW" b="1" dirty="0" err="1"/>
              <a:t>optimální</a:t>
            </a:r>
            <a:r>
              <a:rPr lang="en-GB" altLang="zh-TW" b="1" dirty="0"/>
              <a:t> bod </a:t>
            </a:r>
            <a:r>
              <a:rPr lang="en-GB" altLang="zh-TW" b="1" dirty="0" err="1"/>
              <a:t>spotřeby</a:t>
            </a:r>
            <a:r>
              <a:rPr lang="en-GB" altLang="zh-TW" dirty="0"/>
              <a:t>, </a:t>
            </a:r>
            <a:r>
              <a:rPr lang="en-GB" altLang="zh-TW" dirty="0" err="1"/>
              <a:t>který</a:t>
            </a:r>
            <a:r>
              <a:rPr lang="en-GB" altLang="zh-TW" dirty="0"/>
              <a:t> </a:t>
            </a:r>
            <a:r>
              <a:rPr lang="en-GB" altLang="zh-TW" dirty="0" err="1"/>
              <a:t>odpovídá</a:t>
            </a:r>
            <a:r>
              <a:rPr lang="en-GB" altLang="zh-TW" dirty="0"/>
              <a:t> </a:t>
            </a:r>
            <a:r>
              <a:rPr lang="en-GB" altLang="zh-TW" dirty="0" err="1"/>
              <a:t>hodnotám</a:t>
            </a:r>
            <a:br>
              <a:rPr lang="en-GB" altLang="zh-TW" dirty="0"/>
            </a:br>
            <a:r>
              <a:rPr lang="en-GB" altLang="zh-TW" b="1" dirty="0"/>
              <a:t>x = 63,18</a:t>
            </a:r>
            <a:r>
              <a:rPr lang="en-GB" altLang="zh-TW" dirty="0"/>
              <a:t> a </a:t>
            </a:r>
            <a:r>
              <a:rPr lang="en-GB" altLang="zh-TW" b="1" dirty="0"/>
              <a:t>y = 5,47</a:t>
            </a:r>
            <a:r>
              <a:rPr lang="en-GB" altLang="zh-TW" dirty="0"/>
              <a:t>.“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968989-46C8-4564-A19D-E3F92BD6A515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52419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TW" dirty="0"/>
              <a:t>„Na </a:t>
            </a:r>
            <a:r>
              <a:rPr lang="en-GB" altLang="zh-TW" dirty="0" err="1"/>
              <a:t>tomto</a:t>
            </a:r>
            <a:r>
              <a:rPr lang="en-GB" altLang="zh-TW" dirty="0"/>
              <a:t> </a:t>
            </a:r>
            <a:r>
              <a:rPr lang="en-GB" altLang="zh-TW" dirty="0" err="1"/>
              <a:t>snímku</a:t>
            </a:r>
            <a:r>
              <a:rPr lang="en-GB" altLang="zh-TW" dirty="0"/>
              <a:t> </a:t>
            </a:r>
            <a:r>
              <a:rPr lang="en-GB" altLang="zh-TW" dirty="0" err="1"/>
              <a:t>ukazuji</a:t>
            </a:r>
            <a:r>
              <a:rPr lang="en-GB" altLang="zh-TW" dirty="0"/>
              <a:t> </a:t>
            </a:r>
            <a:r>
              <a:rPr lang="en-GB" altLang="zh-TW" b="1" dirty="0" err="1"/>
              <a:t>vliv</a:t>
            </a:r>
            <a:r>
              <a:rPr lang="en-GB" altLang="zh-TW" b="1" dirty="0"/>
              <a:t> </a:t>
            </a:r>
            <a:r>
              <a:rPr lang="en-GB" altLang="zh-TW" b="1" dirty="0" err="1"/>
              <a:t>změny</a:t>
            </a:r>
            <a:r>
              <a:rPr lang="en-GB" altLang="zh-TW" b="1" dirty="0"/>
              <a:t> </a:t>
            </a:r>
            <a:r>
              <a:rPr lang="en-GB" altLang="zh-TW" b="1" dirty="0" err="1"/>
              <a:t>důchodu</a:t>
            </a:r>
            <a:r>
              <a:rPr lang="en-GB" altLang="zh-TW" b="1" dirty="0"/>
              <a:t> </a:t>
            </a:r>
            <a:r>
              <a:rPr lang="en-GB" altLang="zh-TW" b="1" dirty="0" err="1"/>
              <a:t>na</a:t>
            </a:r>
            <a:r>
              <a:rPr lang="en-GB" altLang="zh-TW" b="1" dirty="0"/>
              <a:t> </a:t>
            </a:r>
            <a:r>
              <a:rPr lang="en-GB" altLang="zh-TW" b="1" dirty="0" err="1"/>
              <a:t>optimální</a:t>
            </a:r>
            <a:r>
              <a:rPr lang="en-GB" altLang="zh-TW" b="1" dirty="0"/>
              <a:t> </a:t>
            </a:r>
            <a:r>
              <a:rPr lang="en-GB" altLang="zh-TW" b="1" dirty="0" err="1"/>
              <a:t>spotřebu</a:t>
            </a:r>
            <a:r>
              <a:rPr lang="en-GB" altLang="zh-TW" dirty="0"/>
              <a:t>.</a:t>
            </a:r>
            <a:br>
              <a:rPr lang="en-GB" altLang="zh-TW" dirty="0"/>
            </a:br>
            <a:r>
              <a:rPr lang="en-GB" altLang="zh-TW" dirty="0" err="1"/>
              <a:t>Původní</a:t>
            </a:r>
            <a:r>
              <a:rPr lang="en-GB" altLang="zh-TW" dirty="0"/>
              <a:t> </a:t>
            </a:r>
            <a:r>
              <a:rPr lang="en-GB" altLang="zh-TW" dirty="0" err="1"/>
              <a:t>rozpočet</a:t>
            </a:r>
            <a:r>
              <a:rPr lang="en-GB" altLang="zh-TW" dirty="0"/>
              <a:t> </a:t>
            </a:r>
            <a:r>
              <a:rPr lang="en-GB" altLang="zh-TW" dirty="0" err="1"/>
              <a:t>byl</a:t>
            </a:r>
            <a:r>
              <a:rPr lang="en-GB" altLang="zh-TW" dirty="0"/>
              <a:t> </a:t>
            </a:r>
            <a:r>
              <a:rPr lang="en-GB" altLang="zh-TW" b="1" dirty="0"/>
              <a:t>1025 </a:t>
            </a:r>
            <a:r>
              <a:rPr lang="en-GB" altLang="zh-TW" b="1" dirty="0" err="1"/>
              <a:t>korun</a:t>
            </a:r>
            <a:r>
              <a:rPr lang="en-GB" altLang="zh-TW" dirty="0"/>
              <a:t> – optimum </a:t>
            </a:r>
            <a:r>
              <a:rPr lang="en-GB" altLang="zh-TW" dirty="0" err="1"/>
              <a:t>bylo</a:t>
            </a:r>
            <a:r>
              <a:rPr lang="en-GB" altLang="zh-TW" dirty="0"/>
              <a:t> </a:t>
            </a:r>
            <a:r>
              <a:rPr lang="en-GB" altLang="zh-TW" b="1" dirty="0"/>
              <a:t>x = 63,18 a y = 5,47</a:t>
            </a:r>
            <a:r>
              <a:rPr lang="en-GB" altLang="zh-TW" dirty="0"/>
              <a:t>.</a:t>
            </a:r>
            <a:br>
              <a:rPr lang="en-GB" altLang="zh-TW" dirty="0"/>
            </a:br>
            <a:r>
              <a:rPr lang="en-GB" altLang="zh-TW" dirty="0" err="1"/>
              <a:t>Když</a:t>
            </a:r>
            <a:r>
              <a:rPr lang="en-GB" altLang="zh-TW" dirty="0"/>
              <a:t> se </a:t>
            </a:r>
            <a:r>
              <a:rPr lang="en-GB" altLang="zh-TW" dirty="0" err="1"/>
              <a:t>důchod</a:t>
            </a:r>
            <a:r>
              <a:rPr lang="en-GB" altLang="zh-TW" dirty="0"/>
              <a:t> </a:t>
            </a:r>
            <a:r>
              <a:rPr lang="en-GB" altLang="zh-TW" dirty="0" err="1"/>
              <a:t>snížil</a:t>
            </a:r>
            <a:r>
              <a:rPr lang="en-GB" altLang="zh-TW" dirty="0"/>
              <a:t> </a:t>
            </a:r>
            <a:r>
              <a:rPr lang="en-GB" altLang="zh-TW" dirty="0" err="1"/>
              <a:t>na</a:t>
            </a:r>
            <a:r>
              <a:rPr lang="en-GB" altLang="zh-TW" dirty="0"/>
              <a:t> </a:t>
            </a:r>
            <a:r>
              <a:rPr lang="en-GB" altLang="zh-TW" b="1" dirty="0"/>
              <a:t>700 </a:t>
            </a:r>
            <a:r>
              <a:rPr lang="en-GB" altLang="zh-TW" b="1" dirty="0" err="1"/>
              <a:t>korun</a:t>
            </a:r>
            <a:r>
              <a:rPr lang="en-GB" altLang="zh-TW" dirty="0"/>
              <a:t>, </a:t>
            </a:r>
            <a:r>
              <a:rPr lang="en-GB" altLang="zh-TW" dirty="0" err="1"/>
              <a:t>nové</a:t>
            </a:r>
            <a:r>
              <a:rPr lang="en-GB" altLang="zh-TW" dirty="0"/>
              <a:t> optimum je </a:t>
            </a:r>
            <a:r>
              <a:rPr lang="en-GB" altLang="zh-TW" b="1" dirty="0"/>
              <a:t>x = 51,18 a y = 4,11</a:t>
            </a:r>
            <a:r>
              <a:rPr lang="en-GB" altLang="zh-TW" dirty="0"/>
              <a:t>.</a:t>
            </a:r>
            <a:br>
              <a:rPr lang="en-GB" altLang="zh-TW" dirty="0"/>
            </a:br>
            <a:r>
              <a:rPr lang="en-GB" altLang="zh-TW" dirty="0"/>
              <a:t>To </a:t>
            </a:r>
            <a:r>
              <a:rPr lang="en-GB" altLang="zh-TW" dirty="0" err="1"/>
              <a:t>znamená</a:t>
            </a:r>
            <a:r>
              <a:rPr lang="en-GB" altLang="zh-TW" dirty="0"/>
              <a:t>, </a:t>
            </a:r>
            <a:r>
              <a:rPr lang="en-GB" altLang="zh-TW" dirty="0" err="1"/>
              <a:t>že</a:t>
            </a:r>
            <a:r>
              <a:rPr lang="en-GB" altLang="zh-TW" dirty="0"/>
              <a:t> </a:t>
            </a:r>
            <a:r>
              <a:rPr lang="en-GB" altLang="zh-TW" dirty="0" err="1"/>
              <a:t>při</a:t>
            </a:r>
            <a:r>
              <a:rPr lang="en-GB" altLang="zh-TW" dirty="0"/>
              <a:t> </a:t>
            </a:r>
            <a:r>
              <a:rPr lang="en-GB" altLang="zh-TW" dirty="0" err="1"/>
              <a:t>nižším</a:t>
            </a:r>
            <a:r>
              <a:rPr lang="en-GB" altLang="zh-TW" dirty="0"/>
              <a:t> </a:t>
            </a:r>
            <a:r>
              <a:rPr lang="en-GB" altLang="zh-TW" dirty="0" err="1"/>
              <a:t>důchodu</a:t>
            </a:r>
            <a:r>
              <a:rPr lang="en-GB" altLang="zh-TW" dirty="0"/>
              <a:t> </a:t>
            </a:r>
            <a:r>
              <a:rPr lang="en-GB" altLang="zh-TW" dirty="0" err="1"/>
              <a:t>oba</a:t>
            </a:r>
            <a:r>
              <a:rPr lang="en-GB" altLang="zh-TW" dirty="0"/>
              <a:t> </a:t>
            </a:r>
            <a:r>
              <a:rPr lang="en-GB" altLang="zh-TW" dirty="0" err="1"/>
              <a:t>statky</a:t>
            </a:r>
            <a:r>
              <a:rPr lang="en-GB" altLang="zh-TW" dirty="0"/>
              <a:t> </a:t>
            </a:r>
            <a:r>
              <a:rPr lang="en-GB" altLang="zh-TW" dirty="0" err="1"/>
              <a:t>mírně</a:t>
            </a:r>
            <a:r>
              <a:rPr lang="en-GB" altLang="zh-TW" dirty="0"/>
              <a:t> </a:t>
            </a:r>
            <a:r>
              <a:rPr lang="en-GB" altLang="zh-TW" dirty="0" err="1"/>
              <a:t>klesly</a:t>
            </a:r>
            <a:r>
              <a:rPr lang="en-GB" altLang="zh-TW" dirty="0"/>
              <a:t>,</a:t>
            </a:r>
            <a:br>
              <a:rPr lang="en-GB" altLang="zh-TW" dirty="0"/>
            </a:br>
            <a:r>
              <a:rPr lang="en-GB" altLang="zh-TW" dirty="0" err="1"/>
              <a:t>takže</a:t>
            </a:r>
            <a:r>
              <a:rPr lang="en-GB" altLang="zh-TW" dirty="0"/>
              <a:t> </a:t>
            </a:r>
            <a:r>
              <a:rPr lang="en-GB" altLang="zh-TW" dirty="0" err="1"/>
              <a:t>jsou</a:t>
            </a:r>
            <a:r>
              <a:rPr lang="en-GB" altLang="zh-TW" dirty="0"/>
              <a:t> to </a:t>
            </a:r>
            <a:r>
              <a:rPr lang="en-GB" altLang="zh-TW" b="1" dirty="0" err="1"/>
              <a:t>nezbytné</a:t>
            </a:r>
            <a:r>
              <a:rPr lang="en-GB" altLang="zh-TW" b="1" dirty="0"/>
              <a:t> </a:t>
            </a:r>
            <a:r>
              <a:rPr lang="en-GB" altLang="zh-TW" b="1" dirty="0" err="1"/>
              <a:t>statky</a:t>
            </a:r>
            <a:r>
              <a:rPr lang="en-GB" altLang="zh-TW" dirty="0"/>
              <a:t> – s </a:t>
            </a:r>
            <a:r>
              <a:rPr lang="en-GB" altLang="zh-TW" b="1" dirty="0" err="1"/>
              <a:t>elasticitou</a:t>
            </a:r>
            <a:r>
              <a:rPr lang="en-GB" altLang="zh-TW" b="1" dirty="0"/>
              <a:t> </a:t>
            </a:r>
            <a:r>
              <a:rPr lang="en-GB" altLang="zh-TW" b="1" dirty="0" err="1"/>
              <a:t>mezi</a:t>
            </a:r>
            <a:r>
              <a:rPr lang="en-GB" altLang="zh-TW" b="1" dirty="0"/>
              <a:t> 0 a 1</a:t>
            </a:r>
            <a:r>
              <a:rPr lang="en-GB" altLang="zh-TW" dirty="0"/>
              <a:t>.“</a:t>
            </a:r>
          </a:p>
          <a:p>
            <a:endParaRPr lang="en-GB" altLang="zh-TW" dirty="0"/>
          </a:p>
          <a:p>
            <a:r>
              <a:rPr lang="en-GB" altLang="zh-TW" dirty="0" err="1"/>
              <a:t>Takže</a:t>
            </a:r>
            <a:r>
              <a:rPr lang="en-GB" altLang="zh-TW" dirty="0"/>
              <a:t> </a:t>
            </a:r>
            <a:r>
              <a:rPr lang="en-GB" altLang="zh-TW" dirty="0" err="1"/>
              <a:t>spotřeba</a:t>
            </a:r>
            <a:r>
              <a:rPr lang="en-GB" altLang="zh-TW" dirty="0"/>
              <a:t> </a:t>
            </a:r>
            <a:r>
              <a:rPr lang="en-GB" altLang="zh-TW" dirty="0" err="1"/>
              <a:t>klesla</a:t>
            </a:r>
            <a:r>
              <a:rPr lang="en-GB" altLang="zh-TW" dirty="0"/>
              <a:t>, ale ne </a:t>
            </a:r>
            <a:r>
              <a:rPr lang="en-GB" altLang="zh-TW" dirty="0" err="1"/>
              <a:t>tolik</a:t>
            </a:r>
            <a:r>
              <a:rPr lang="en-GB" altLang="zh-TW" dirty="0"/>
              <a:t> – </a:t>
            </a:r>
            <a:r>
              <a:rPr lang="en-GB" altLang="zh-TW" dirty="0" err="1"/>
              <a:t>lidé</a:t>
            </a:r>
            <a:r>
              <a:rPr lang="en-GB" altLang="zh-TW" dirty="0"/>
              <a:t> </a:t>
            </a:r>
            <a:r>
              <a:rPr lang="en-GB" altLang="zh-TW" dirty="0" err="1"/>
              <a:t>brambory</a:t>
            </a:r>
            <a:r>
              <a:rPr lang="en-GB" altLang="zh-TW" dirty="0"/>
              <a:t> a </a:t>
            </a:r>
            <a:r>
              <a:rPr lang="en-GB" altLang="zh-TW" dirty="0" err="1"/>
              <a:t>rýži</a:t>
            </a:r>
            <a:r>
              <a:rPr lang="en-GB" altLang="zh-TW" dirty="0"/>
              <a:t> </a:t>
            </a:r>
            <a:r>
              <a:rPr lang="en-GB" altLang="zh-TW" dirty="0" err="1"/>
              <a:t>stále</a:t>
            </a:r>
            <a:r>
              <a:rPr lang="en-GB" altLang="zh-TW" dirty="0"/>
              <a:t> </a:t>
            </a:r>
            <a:r>
              <a:rPr lang="en-GB" altLang="zh-TW" dirty="0" err="1"/>
              <a:t>potřebují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968989-46C8-4564-A19D-E3F92BD6A515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89499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TW" dirty="0"/>
              <a:t>„</a:t>
            </a:r>
            <a:r>
              <a:rPr lang="en-GB" altLang="zh-TW" dirty="0" err="1"/>
              <a:t>Elasticita</a:t>
            </a:r>
            <a:r>
              <a:rPr lang="en-GB" altLang="zh-TW" dirty="0"/>
              <a:t> u </a:t>
            </a:r>
            <a:r>
              <a:rPr lang="en-GB" altLang="zh-TW" dirty="0" err="1"/>
              <a:t>brambor</a:t>
            </a:r>
            <a:r>
              <a:rPr lang="en-GB" altLang="zh-TW" dirty="0"/>
              <a:t> </a:t>
            </a:r>
            <a:r>
              <a:rPr lang="en-GB" altLang="zh-TW" dirty="0" err="1"/>
              <a:t>vyšla</a:t>
            </a:r>
            <a:r>
              <a:rPr lang="en-GB" altLang="zh-TW" dirty="0"/>
              <a:t> </a:t>
            </a:r>
            <a:r>
              <a:rPr lang="en-GB" altLang="zh-TW" dirty="0" err="1"/>
              <a:t>víc</a:t>
            </a:r>
            <a:r>
              <a:rPr lang="en-GB" altLang="zh-TW" dirty="0"/>
              <a:t> </a:t>
            </a:r>
            <a:r>
              <a:rPr lang="en-GB" altLang="zh-TW" dirty="0" err="1"/>
              <a:t>než</a:t>
            </a:r>
            <a:r>
              <a:rPr lang="en-GB" altLang="zh-TW" dirty="0"/>
              <a:t> </a:t>
            </a:r>
            <a:r>
              <a:rPr lang="en-GB" altLang="zh-TW" dirty="0" err="1"/>
              <a:t>jedna</a:t>
            </a:r>
            <a:r>
              <a:rPr lang="en-GB" altLang="zh-TW" dirty="0"/>
              <a:t>,</a:t>
            </a:r>
            <a:br>
              <a:rPr lang="en-GB" altLang="zh-TW" dirty="0"/>
            </a:br>
            <a:r>
              <a:rPr lang="en-GB" altLang="zh-TW" dirty="0"/>
              <a:t>ale </a:t>
            </a:r>
            <a:r>
              <a:rPr lang="en-GB" altLang="zh-TW" b="1" dirty="0" err="1"/>
              <a:t>brambory</a:t>
            </a:r>
            <a:r>
              <a:rPr lang="en-GB" altLang="zh-TW" b="1" dirty="0"/>
              <a:t> </a:t>
            </a:r>
            <a:r>
              <a:rPr lang="en-GB" altLang="zh-TW" b="1" dirty="0" err="1"/>
              <a:t>samozřejmě</a:t>
            </a:r>
            <a:r>
              <a:rPr lang="en-GB" altLang="zh-TW" b="1" dirty="0"/>
              <a:t> </a:t>
            </a:r>
            <a:r>
              <a:rPr lang="en-GB" altLang="zh-TW" b="1" dirty="0" err="1"/>
              <a:t>nejsou</a:t>
            </a:r>
            <a:r>
              <a:rPr lang="en-GB" altLang="zh-TW" b="1" dirty="0"/>
              <a:t> </a:t>
            </a:r>
            <a:r>
              <a:rPr lang="en-GB" altLang="zh-TW" b="1" dirty="0" err="1"/>
              <a:t>luxusní</a:t>
            </a:r>
            <a:r>
              <a:rPr lang="en-GB" altLang="zh-TW" b="1" dirty="0"/>
              <a:t> </a:t>
            </a:r>
            <a:r>
              <a:rPr lang="en-GB" altLang="zh-TW" b="1" dirty="0" err="1"/>
              <a:t>zboží</a:t>
            </a:r>
            <a:r>
              <a:rPr lang="en-GB" altLang="zh-TW" dirty="0"/>
              <a:t>.</a:t>
            </a:r>
            <a:br>
              <a:rPr lang="en-GB" altLang="zh-TW" dirty="0"/>
            </a:br>
            <a:r>
              <a:rPr lang="en-GB" altLang="zh-TW" dirty="0"/>
              <a:t>Je to </a:t>
            </a:r>
            <a:r>
              <a:rPr lang="en-GB" altLang="zh-TW" dirty="0" err="1"/>
              <a:t>tím</a:t>
            </a:r>
            <a:r>
              <a:rPr lang="en-GB" altLang="zh-TW" dirty="0"/>
              <a:t>, </a:t>
            </a:r>
            <a:r>
              <a:rPr lang="en-GB" altLang="zh-TW" dirty="0" err="1"/>
              <a:t>že</a:t>
            </a:r>
            <a:r>
              <a:rPr lang="en-GB" altLang="zh-TW" dirty="0"/>
              <a:t> </a:t>
            </a:r>
            <a:r>
              <a:rPr lang="en-GB" altLang="zh-TW" b="1" dirty="0"/>
              <a:t>v </a:t>
            </a:r>
            <a:r>
              <a:rPr lang="en-GB" altLang="zh-TW" b="1" dirty="0" err="1"/>
              <a:t>roce</a:t>
            </a:r>
            <a:r>
              <a:rPr lang="en-GB" altLang="zh-TW" b="1" dirty="0"/>
              <a:t> 2014 se </a:t>
            </a:r>
            <a:r>
              <a:rPr lang="en-GB" altLang="zh-TW" b="1" dirty="0" err="1"/>
              <a:t>jejich</a:t>
            </a:r>
            <a:r>
              <a:rPr lang="en-GB" altLang="zh-TW" b="1" dirty="0"/>
              <a:t> </a:t>
            </a:r>
            <a:r>
              <a:rPr lang="en-GB" altLang="zh-TW" b="1" dirty="0" err="1"/>
              <a:t>cena</a:t>
            </a:r>
            <a:r>
              <a:rPr lang="en-GB" altLang="zh-TW" b="1" dirty="0"/>
              <a:t> </a:t>
            </a:r>
            <a:r>
              <a:rPr lang="en-GB" altLang="zh-TW" b="1" dirty="0" err="1"/>
              <a:t>hodně</a:t>
            </a:r>
            <a:r>
              <a:rPr lang="en-GB" altLang="zh-TW" b="1" dirty="0"/>
              <a:t> </a:t>
            </a:r>
            <a:r>
              <a:rPr lang="en-GB" altLang="zh-TW" b="1" dirty="0" err="1"/>
              <a:t>zvýšila</a:t>
            </a:r>
            <a:r>
              <a:rPr lang="en-GB" altLang="zh-TW" dirty="0"/>
              <a:t>,</a:t>
            </a:r>
            <a:br>
              <a:rPr lang="en-GB" altLang="zh-TW" dirty="0"/>
            </a:br>
            <a:r>
              <a:rPr lang="en-GB" altLang="zh-TW" dirty="0" err="1"/>
              <a:t>takže</a:t>
            </a:r>
            <a:r>
              <a:rPr lang="en-GB" altLang="zh-TW" dirty="0"/>
              <a:t> </a:t>
            </a:r>
            <a:r>
              <a:rPr lang="en-GB" altLang="zh-TW" dirty="0" err="1"/>
              <a:t>výsledek</a:t>
            </a:r>
            <a:r>
              <a:rPr lang="en-GB" altLang="zh-TW" dirty="0"/>
              <a:t> je </a:t>
            </a:r>
            <a:r>
              <a:rPr lang="en-GB" altLang="zh-TW" b="1" dirty="0" err="1"/>
              <a:t>trochu</a:t>
            </a:r>
            <a:r>
              <a:rPr lang="en-GB" altLang="zh-TW" b="1" dirty="0"/>
              <a:t> </a:t>
            </a:r>
            <a:r>
              <a:rPr lang="en-GB" altLang="zh-TW" b="1" dirty="0" err="1"/>
              <a:t>nadhodnocený</a:t>
            </a:r>
            <a:r>
              <a:rPr lang="en-GB" altLang="zh-TW" dirty="0"/>
              <a:t>.“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968989-46C8-4564-A19D-E3F92BD6A515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3970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TW" dirty="0" err="1"/>
              <a:t>Tady</a:t>
            </a:r>
            <a:r>
              <a:rPr lang="en-GB" altLang="zh-TW" dirty="0"/>
              <a:t> </a:t>
            </a:r>
            <a:r>
              <a:rPr lang="en-GB" altLang="zh-TW" dirty="0" err="1"/>
              <a:t>předpokladáme</a:t>
            </a:r>
            <a:r>
              <a:rPr lang="en-GB" altLang="zh-TW" dirty="0"/>
              <a:t> , </a:t>
            </a:r>
            <a:r>
              <a:rPr lang="en-GB" altLang="zh-TW" dirty="0" err="1"/>
              <a:t>že</a:t>
            </a:r>
            <a:r>
              <a:rPr lang="en-GB" altLang="zh-TW" dirty="0"/>
              <a:t> </a:t>
            </a:r>
            <a:r>
              <a:rPr lang="en-GB" altLang="zh-TW" dirty="0" err="1"/>
              <a:t>cena</a:t>
            </a:r>
            <a:r>
              <a:rPr lang="en-GB" altLang="zh-TW" dirty="0"/>
              <a:t> </a:t>
            </a:r>
            <a:r>
              <a:rPr lang="en-GB" altLang="zh-TW" dirty="0" err="1"/>
              <a:t>brambor</a:t>
            </a:r>
            <a:r>
              <a:rPr lang="en-GB" altLang="zh-TW" dirty="0"/>
              <a:t> </a:t>
            </a:r>
            <a:r>
              <a:rPr lang="en-GB" altLang="zh-TW" dirty="0" err="1"/>
              <a:t>klesne</a:t>
            </a:r>
            <a:r>
              <a:rPr lang="en-GB" altLang="zh-TW" dirty="0"/>
              <a:t>.</a:t>
            </a:r>
          </a:p>
          <a:p>
            <a:r>
              <a:rPr lang="en-GB" altLang="zh-TW" dirty="0" err="1"/>
              <a:t>Přepočítala</a:t>
            </a:r>
            <a:r>
              <a:rPr lang="en-GB" altLang="zh-TW" dirty="0"/>
              <a:t> </a:t>
            </a:r>
            <a:r>
              <a:rPr lang="en-GB" altLang="zh-TW" dirty="0" err="1"/>
              <a:t>jsem</a:t>
            </a:r>
            <a:r>
              <a:rPr lang="en-GB" altLang="zh-TW" dirty="0"/>
              <a:t> </a:t>
            </a:r>
            <a:r>
              <a:rPr lang="en-GB" altLang="zh-TW" dirty="0" err="1"/>
              <a:t>novou</a:t>
            </a:r>
            <a:r>
              <a:rPr lang="en-GB" altLang="zh-TW" dirty="0"/>
              <a:t> </a:t>
            </a:r>
            <a:r>
              <a:rPr lang="en-GB" altLang="zh-TW" dirty="0" err="1"/>
              <a:t>Lagrangeovu</a:t>
            </a:r>
            <a:r>
              <a:rPr lang="en-GB" altLang="zh-TW" dirty="0"/>
              <a:t> </a:t>
            </a:r>
            <a:r>
              <a:rPr lang="en-GB" altLang="zh-TW" dirty="0" err="1"/>
              <a:t>funkci</a:t>
            </a:r>
            <a:r>
              <a:rPr lang="en-GB" altLang="zh-TW" dirty="0"/>
              <a:t> a </a:t>
            </a:r>
            <a:r>
              <a:rPr lang="en-GB" altLang="zh-TW" dirty="0" err="1"/>
              <a:t>dostala</a:t>
            </a:r>
            <a:r>
              <a:rPr lang="en-GB" altLang="zh-TW" dirty="0"/>
              <a:t> </a:t>
            </a:r>
            <a:r>
              <a:rPr lang="en-GB" altLang="zh-TW" dirty="0" err="1"/>
              <a:t>jsem</a:t>
            </a:r>
            <a:r>
              <a:rPr lang="en-GB" altLang="zh-TW" dirty="0"/>
              <a:t> </a:t>
            </a:r>
            <a:r>
              <a:rPr lang="en-GB" altLang="zh-TW" dirty="0" err="1"/>
              <a:t>nové</a:t>
            </a:r>
            <a:r>
              <a:rPr lang="en-GB" altLang="zh-TW" dirty="0"/>
              <a:t> optimum x a y.</a:t>
            </a:r>
          </a:p>
          <a:p>
            <a:r>
              <a:rPr lang="en-GB" altLang="zh-TW" dirty="0" err="1"/>
              <a:t>Porovnáním</a:t>
            </a:r>
            <a:r>
              <a:rPr lang="en-GB" altLang="zh-TW" dirty="0"/>
              <a:t> </a:t>
            </a:r>
            <a:r>
              <a:rPr lang="en-GB" altLang="zh-TW" dirty="0" err="1"/>
              <a:t>starého</a:t>
            </a:r>
            <a:r>
              <a:rPr lang="en-GB" altLang="zh-TW" dirty="0"/>
              <a:t> a </a:t>
            </a:r>
            <a:r>
              <a:rPr lang="en-GB" altLang="zh-TW" dirty="0" err="1"/>
              <a:t>nového</a:t>
            </a:r>
            <a:r>
              <a:rPr lang="en-GB" altLang="zh-TW" dirty="0"/>
              <a:t> optima </a:t>
            </a:r>
            <a:r>
              <a:rPr lang="en-GB" altLang="zh-TW" dirty="0" err="1"/>
              <a:t>můžeme</a:t>
            </a:r>
            <a:r>
              <a:rPr lang="en-GB" altLang="zh-TW" dirty="0"/>
              <a:t> </a:t>
            </a:r>
            <a:r>
              <a:rPr lang="en-GB" altLang="zh-TW" dirty="0" err="1"/>
              <a:t>vidět</a:t>
            </a:r>
            <a:r>
              <a:rPr lang="en-GB" altLang="zh-TW" dirty="0"/>
              <a:t> </a:t>
            </a:r>
            <a:r>
              <a:rPr lang="en-GB" altLang="zh-TW" dirty="0" err="1"/>
              <a:t>celkovou</a:t>
            </a:r>
            <a:r>
              <a:rPr lang="en-GB" altLang="zh-TW" dirty="0"/>
              <a:t> </a:t>
            </a:r>
            <a:r>
              <a:rPr lang="en-GB" altLang="zh-TW" dirty="0" err="1"/>
              <a:t>změnu</a:t>
            </a:r>
            <a:r>
              <a:rPr lang="en-GB" altLang="zh-TW" dirty="0"/>
              <a:t> </a:t>
            </a:r>
            <a:r>
              <a:rPr lang="en-GB" altLang="zh-TW" dirty="0" err="1"/>
              <a:t>spotřeby</a:t>
            </a:r>
            <a:r>
              <a:rPr lang="en-GB" altLang="zh-TW" dirty="0"/>
              <a:t>.</a:t>
            </a:r>
          </a:p>
          <a:p>
            <a:r>
              <a:rPr lang="en-GB" altLang="zh-TW" dirty="0" err="1"/>
              <a:t>Tuto</a:t>
            </a:r>
            <a:r>
              <a:rPr lang="en-GB" altLang="zh-TW" dirty="0"/>
              <a:t> </a:t>
            </a:r>
            <a:r>
              <a:rPr lang="en-GB" altLang="zh-TW" dirty="0" err="1"/>
              <a:t>změnu</a:t>
            </a:r>
            <a:r>
              <a:rPr lang="en-GB" altLang="zh-TW" dirty="0"/>
              <a:t> </a:t>
            </a:r>
            <a:r>
              <a:rPr lang="en-GB" altLang="zh-TW" dirty="0" err="1"/>
              <a:t>můžeme</a:t>
            </a:r>
            <a:r>
              <a:rPr lang="en-GB" altLang="zh-TW" dirty="0"/>
              <a:t> </a:t>
            </a:r>
            <a:r>
              <a:rPr lang="en-GB" altLang="zh-TW" dirty="0" err="1"/>
              <a:t>rozdělit</a:t>
            </a:r>
            <a:r>
              <a:rPr lang="en-GB" altLang="zh-TW" dirty="0"/>
              <a:t> </a:t>
            </a:r>
            <a:r>
              <a:rPr lang="en-GB" altLang="zh-TW" dirty="0" err="1"/>
              <a:t>na</a:t>
            </a:r>
            <a:r>
              <a:rPr lang="en-GB" altLang="zh-TW" dirty="0"/>
              <a:t> </a:t>
            </a:r>
            <a:r>
              <a:rPr lang="en-GB" altLang="zh-TW" dirty="0" err="1"/>
              <a:t>dvě</a:t>
            </a:r>
            <a:r>
              <a:rPr lang="en-GB" altLang="zh-TW" dirty="0"/>
              <a:t> </a:t>
            </a:r>
            <a:r>
              <a:rPr lang="en-GB" altLang="zh-TW" dirty="0" err="1"/>
              <a:t>části</a:t>
            </a:r>
            <a:r>
              <a:rPr lang="en-GB" altLang="zh-TW" dirty="0"/>
              <a:t> –</a:t>
            </a:r>
          </a:p>
          <a:p>
            <a:r>
              <a:rPr lang="en-GB" altLang="zh-TW" dirty="0" err="1"/>
              <a:t>substituční</a:t>
            </a:r>
            <a:r>
              <a:rPr lang="en-GB" altLang="zh-TW" dirty="0"/>
              <a:t> </a:t>
            </a:r>
            <a:r>
              <a:rPr lang="en-GB" altLang="zh-TW" dirty="0" err="1"/>
              <a:t>efekt</a:t>
            </a:r>
            <a:r>
              <a:rPr lang="en-GB" altLang="zh-TW" dirty="0"/>
              <a:t> a </a:t>
            </a:r>
            <a:r>
              <a:rPr lang="en-GB" altLang="zh-TW" dirty="0" err="1"/>
              <a:t>důchodový</a:t>
            </a:r>
            <a:r>
              <a:rPr lang="en-GB" altLang="zh-TW" dirty="0"/>
              <a:t> </a:t>
            </a:r>
            <a:r>
              <a:rPr lang="en-GB" altLang="zh-TW" dirty="0" err="1"/>
              <a:t>efekt</a:t>
            </a:r>
            <a:r>
              <a:rPr lang="en-GB" altLang="zh-TW" dirty="0"/>
              <a:t>.</a:t>
            </a:r>
          </a:p>
          <a:p>
            <a:r>
              <a:rPr lang="en-GB" altLang="zh-TW" dirty="0" err="1"/>
              <a:t>Substituční</a:t>
            </a:r>
            <a:r>
              <a:rPr lang="en-GB" altLang="zh-TW" dirty="0"/>
              <a:t> </a:t>
            </a:r>
            <a:r>
              <a:rPr lang="en-GB" altLang="zh-TW" dirty="0" err="1"/>
              <a:t>efekt</a:t>
            </a:r>
            <a:r>
              <a:rPr lang="en-GB" altLang="zh-TW" dirty="0"/>
              <a:t> </a:t>
            </a:r>
            <a:r>
              <a:rPr lang="en-GB" altLang="zh-TW" dirty="0" err="1"/>
              <a:t>znamená</a:t>
            </a:r>
            <a:r>
              <a:rPr lang="en-GB" altLang="zh-TW" dirty="0"/>
              <a:t>, </a:t>
            </a:r>
            <a:r>
              <a:rPr lang="en-GB" altLang="zh-TW" dirty="0" err="1"/>
              <a:t>že</a:t>
            </a:r>
            <a:r>
              <a:rPr lang="en-GB" altLang="zh-TW" dirty="0"/>
              <a:t> </a:t>
            </a:r>
            <a:r>
              <a:rPr lang="en-GB" altLang="zh-TW" dirty="0" err="1"/>
              <a:t>když</a:t>
            </a:r>
            <a:r>
              <a:rPr lang="en-GB" altLang="zh-TW" dirty="0"/>
              <a:t> </a:t>
            </a:r>
            <a:r>
              <a:rPr lang="en-GB" altLang="zh-TW" dirty="0" err="1"/>
              <a:t>jsou</a:t>
            </a:r>
            <a:r>
              <a:rPr lang="en-GB" altLang="zh-TW" dirty="0"/>
              <a:t> </a:t>
            </a:r>
            <a:r>
              <a:rPr lang="en-GB" altLang="zh-TW" dirty="0" err="1"/>
              <a:t>brambory</a:t>
            </a:r>
            <a:r>
              <a:rPr lang="en-GB" altLang="zh-TW" dirty="0"/>
              <a:t> </a:t>
            </a:r>
            <a:r>
              <a:rPr lang="en-GB" altLang="zh-TW" dirty="0" err="1"/>
              <a:t>levnější</a:t>
            </a:r>
            <a:r>
              <a:rPr lang="en-GB" altLang="zh-TW" dirty="0"/>
              <a:t>,</a:t>
            </a:r>
          </a:p>
          <a:p>
            <a:r>
              <a:rPr lang="en-GB" altLang="zh-TW" dirty="0" err="1"/>
              <a:t>lidé</a:t>
            </a:r>
            <a:r>
              <a:rPr lang="en-GB" altLang="zh-TW" dirty="0"/>
              <a:t> </a:t>
            </a:r>
            <a:r>
              <a:rPr lang="en-GB" altLang="zh-TW" dirty="0" err="1"/>
              <a:t>jich</a:t>
            </a:r>
            <a:r>
              <a:rPr lang="en-GB" altLang="zh-TW" dirty="0"/>
              <a:t> </a:t>
            </a:r>
            <a:r>
              <a:rPr lang="en-GB" altLang="zh-TW" dirty="0" err="1"/>
              <a:t>nakoupí</a:t>
            </a:r>
            <a:r>
              <a:rPr lang="en-GB" altLang="zh-TW" dirty="0"/>
              <a:t> </a:t>
            </a:r>
            <a:r>
              <a:rPr lang="en-GB" altLang="zh-TW" dirty="0" err="1"/>
              <a:t>víc</a:t>
            </a:r>
            <a:r>
              <a:rPr lang="en-GB" altLang="zh-TW" dirty="0"/>
              <a:t> </a:t>
            </a:r>
            <a:r>
              <a:rPr lang="en-GB" altLang="zh-TW" dirty="0" err="1"/>
              <a:t>místo</a:t>
            </a:r>
            <a:r>
              <a:rPr lang="en-GB" altLang="zh-TW" dirty="0"/>
              <a:t> </a:t>
            </a:r>
            <a:r>
              <a:rPr lang="en-GB" altLang="zh-TW" dirty="0" err="1"/>
              <a:t>rýže</a:t>
            </a:r>
            <a:r>
              <a:rPr lang="en-GB" altLang="zh-TW" dirty="0"/>
              <a:t>.</a:t>
            </a:r>
          </a:p>
          <a:p>
            <a:r>
              <a:rPr lang="en-GB" altLang="zh-TW" dirty="0" err="1"/>
              <a:t>Důchodový</a:t>
            </a:r>
            <a:r>
              <a:rPr lang="en-GB" altLang="zh-TW" dirty="0"/>
              <a:t> </a:t>
            </a:r>
            <a:r>
              <a:rPr lang="en-GB" altLang="zh-TW" dirty="0" err="1"/>
              <a:t>efekt</a:t>
            </a:r>
            <a:r>
              <a:rPr lang="en-GB" altLang="zh-TW" dirty="0"/>
              <a:t> </a:t>
            </a:r>
            <a:r>
              <a:rPr lang="en-GB" altLang="zh-TW" dirty="0" err="1"/>
              <a:t>znamená</a:t>
            </a:r>
            <a:r>
              <a:rPr lang="en-GB" altLang="zh-TW" dirty="0"/>
              <a:t>, </a:t>
            </a:r>
            <a:r>
              <a:rPr lang="en-GB" altLang="zh-TW" dirty="0" err="1"/>
              <a:t>že</a:t>
            </a:r>
            <a:r>
              <a:rPr lang="en-GB" altLang="zh-TW" dirty="0"/>
              <a:t> </a:t>
            </a:r>
            <a:r>
              <a:rPr lang="en-GB" altLang="zh-TW" dirty="0" err="1"/>
              <a:t>při</a:t>
            </a:r>
            <a:r>
              <a:rPr lang="en-GB" altLang="zh-TW" dirty="0"/>
              <a:t> </a:t>
            </a:r>
            <a:r>
              <a:rPr lang="en-GB" altLang="zh-TW" dirty="0" err="1"/>
              <a:t>stejné</a:t>
            </a:r>
            <a:r>
              <a:rPr lang="en-GB" altLang="zh-TW" dirty="0"/>
              <a:t> </a:t>
            </a:r>
            <a:r>
              <a:rPr lang="en-GB" altLang="zh-TW" dirty="0" err="1"/>
              <a:t>částce</a:t>
            </a:r>
            <a:r>
              <a:rPr lang="en-GB" altLang="zh-TW" dirty="0"/>
              <a:t> </a:t>
            </a:r>
            <a:r>
              <a:rPr lang="en-GB" altLang="zh-TW" dirty="0" err="1"/>
              <a:t>mají</a:t>
            </a:r>
            <a:r>
              <a:rPr lang="en-GB" altLang="zh-TW" dirty="0"/>
              <a:t> </a:t>
            </a:r>
            <a:r>
              <a:rPr lang="en-GB" altLang="zh-TW" dirty="0" err="1"/>
              <a:t>větší</a:t>
            </a:r>
            <a:r>
              <a:rPr lang="en-GB" altLang="zh-TW" dirty="0"/>
              <a:t> </a:t>
            </a:r>
            <a:r>
              <a:rPr lang="en-GB" altLang="zh-TW" dirty="0" err="1"/>
              <a:t>kupní</a:t>
            </a:r>
            <a:r>
              <a:rPr lang="en-GB" altLang="zh-TW" dirty="0"/>
              <a:t> </a:t>
            </a:r>
            <a:r>
              <a:rPr lang="en-GB" altLang="zh-TW" dirty="0" err="1"/>
              <a:t>sílu</a:t>
            </a:r>
            <a:r>
              <a:rPr lang="en-GB" altLang="zh-TW" dirty="0"/>
              <a:t>,</a:t>
            </a:r>
          </a:p>
          <a:p>
            <a:r>
              <a:rPr lang="en-GB" altLang="zh-TW" dirty="0" err="1"/>
              <a:t>takže</a:t>
            </a:r>
            <a:r>
              <a:rPr lang="en-GB" altLang="zh-TW" dirty="0"/>
              <a:t> </a:t>
            </a:r>
            <a:r>
              <a:rPr lang="en-GB" altLang="zh-TW" dirty="0" err="1"/>
              <a:t>mohou</a:t>
            </a:r>
            <a:r>
              <a:rPr lang="en-GB" altLang="zh-TW" dirty="0"/>
              <a:t> </a:t>
            </a:r>
            <a:r>
              <a:rPr lang="en-GB" altLang="zh-TW" dirty="0" err="1"/>
              <a:t>spotřebovat</a:t>
            </a:r>
            <a:r>
              <a:rPr lang="en-GB" altLang="zh-TW" dirty="0"/>
              <a:t> </a:t>
            </a:r>
            <a:r>
              <a:rPr lang="en-GB" altLang="zh-TW" dirty="0" err="1"/>
              <a:t>víc</a:t>
            </a:r>
            <a:r>
              <a:rPr lang="en-GB" altLang="zh-TW" dirty="0"/>
              <a:t> </a:t>
            </a:r>
            <a:r>
              <a:rPr lang="en-GB" altLang="zh-TW" dirty="0" err="1"/>
              <a:t>obou</a:t>
            </a:r>
            <a:r>
              <a:rPr lang="en-GB" altLang="zh-TW" dirty="0"/>
              <a:t> </a:t>
            </a:r>
            <a:r>
              <a:rPr lang="en-GB" altLang="zh-TW" dirty="0" err="1"/>
              <a:t>statků</a:t>
            </a:r>
            <a:r>
              <a:rPr lang="en-GB" altLang="zh-TW" dirty="0"/>
              <a:t>.“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968989-46C8-4564-A19D-E3F92BD6A515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55016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TW" dirty="0"/>
              <a:t>Z </a:t>
            </a:r>
            <a:r>
              <a:rPr lang="en-GB" altLang="zh-TW" dirty="0" err="1"/>
              <a:t>tabulky</a:t>
            </a:r>
            <a:r>
              <a:rPr lang="en-GB" altLang="zh-TW" dirty="0"/>
              <a:t> </a:t>
            </a:r>
            <a:r>
              <a:rPr lang="en-GB" altLang="zh-TW" dirty="0" err="1"/>
              <a:t>vidíme</a:t>
            </a:r>
            <a:r>
              <a:rPr lang="en-GB" altLang="zh-TW" dirty="0"/>
              <a:t>, </a:t>
            </a:r>
            <a:r>
              <a:rPr lang="en-GB" altLang="zh-TW" dirty="0" err="1"/>
              <a:t>že</a:t>
            </a:r>
            <a:r>
              <a:rPr lang="en-GB" altLang="zh-TW" dirty="0"/>
              <a:t> v </a:t>
            </a:r>
            <a:r>
              <a:rPr lang="en-GB" altLang="zh-TW" dirty="0" err="1"/>
              <a:t>většině</a:t>
            </a:r>
            <a:r>
              <a:rPr lang="en-GB" altLang="zh-TW" dirty="0"/>
              <a:t> let je </a:t>
            </a:r>
            <a:r>
              <a:rPr lang="en-GB" altLang="zh-TW" dirty="0" err="1"/>
              <a:t>elasticita</a:t>
            </a:r>
            <a:r>
              <a:rPr lang="en-GB" altLang="zh-TW" dirty="0"/>
              <a:t> </a:t>
            </a:r>
            <a:r>
              <a:rPr lang="en-GB" altLang="zh-TW" dirty="0" err="1"/>
              <a:t>nízká</a:t>
            </a:r>
            <a:r>
              <a:rPr lang="en-GB" altLang="zh-TW" dirty="0"/>
              <a:t> v </a:t>
            </a:r>
            <a:r>
              <a:rPr lang="en-GB" altLang="zh-TW" dirty="0" err="1"/>
              <a:t>absolutní</a:t>
            </a:r>
            <a:r>
              <a:rPr lang="en-GB" altLang="zh-TW" dirty="0"/>
              <a:t> </a:t>
            </a:r>
            <a:r>
              <a:rPr lang="en-GB" altLang="zh-TW" dirty="0" err="1"/>
              <a:t>hodnotě</a:t>
            </a:r>
            <a:r>
              <a:rPr lang="en-GB" altLang="zh-TW" dirty="0"/>
              <a:t> a </a:t>
            </a:r>
            <a:r>
              <a:rPr lang="en-GB" altLang="zh-TW" dirty="0" err="1"/>
              <a:t>záporná</a:t>
            </a:r>
            <a:r>
              <a:rPr lang="en-GB" altLang="zh-TW" dirty="0"/>
              <a:t> – </a:t>
            </a:r>
            <a:r>
              <a:rPr lang="en-GB" altLang="zh-TW" dirty="0" err="1"/>
              <a:t>brambory</a:t>
            </a:r>
            <a:r>
              <a:rPr lang="en-GB" altLang="zh-TW" dirty="0"/>
              <a:t> </a:t>
            </a:r>
            <a:r>
              <a:rPr lang="en-GB" altLang="zh-TW" dirty="0" err="1"/>
              <a:t>jsou</a:t>
            </a:r>
            <a:r>
              <a:rPr lang="en-GB" altLang="zh-TW" dirty="0"/>
              <a:t> </a:t>
            </a:r>
            <a:r>
              <a:rPr lang="en-GB" altLang="zh-TW" b="1" dirty="0" err="1"/>
              <a:t>nezbytné</a:t>
            </a:r>
            <a:r>
              <a:rPr lang="en-GB" altLang="zh-TW" b="1" dirty="0"/>
              <a:t> </a:t>
            </a:r>
            <a:r>
              <a:rPr lang="en-GB" altLang="zh-TW" b="1" dirty="0" err="1"/>
              <a:t>zboží</a:t>
            </a:r>
            <a:r>
              <a:rPr lang="en-GB" altLang="zh-TW" dirty="0"/>
              <a:t> s </a:t>
            </a:r>
            <a:r>
              <a:rPr lang="en-GB" altLang="zh-TW" dirty="0" err="1"/>
              <a:t>neelastickou</a:t>
            </a:r>
            <a:r>
              <a:rPr lang="en-GB" altLang="zh-TW" dirty="0"/>
              <a:t> </a:t>
            </a:r>
            <a:r>
              <a:rPr lang="en-GB" altLang="zh-TW" dirty="0" err="1"/>
              <a:t>poptávkou</a:t>
            </a:r>
            <a:r>
              <a:rPr lang="en-GB" altLang="zh-TW" dirty="0"/>
              <a:t>. </a:t>
            </a:r>
            <a:r>
              <a:rPr lang="en-GB" altLang="zh-TW" dirty="0" err="1"/>
              <a:t>Výjimkou</a:t>
            </a:r>
            <a:r>
              <a:rPr lang="en-GB" altLang="zh-TW" dirty="0"/>
              <a:t> je </a:t>
            </a:r>
            <a:r>
              <a:rPr lang="en-GB" altLang="zh-TW" b="1" dirty="0" err="1"/>
              <a:t>rok</a:t>
            </a:r>
            <a:r>
              <a:rPr lang="en-GB" altLang="zh-TW" b="1" dirty="0"/>
              <a:t> 2015</a:t>
            </a:r>
            <a:r>
              <a:rPr lang="en-GB" altLang="zh-TW" dirty="0"/>
              <a:t>, </a:t>
            </a:r>
            <a:r>
              <a:rPr lang="en-GB" altLang="zh-TW" dirty="0" err="1"/>
              <a:t>kde</a:t>
            </a:r>
            <a:r>
              <a:rPr lang="en-GB" altLang="zh-TW" dirty="0"/>
              <a:t> je </a:t>
            </a:r>
            <a:r>
              <a:rPr lang="en-GB" altLang="zh-TW" dirty="0" err="1"/>
              <a:t>elasticita</a:t>
            </a:r>
            <a:r>
              <a:rPr lang="en-GB" altLang="zh-TW" dirty="0"/>
              <a:t> </a:t>
            </a:r>
            <a:r>
              <a:rPr lang="en-GB" altLang="zh-TW" dirty="0" err="1"/>
              <a:t>kladná</a:t>
            </a:r>
            <a:r>
              <a:rPr lang="en-GB" altLang="zh-TW" dirty="0"/>
              <a:t> –</a:t>
            </a:r>
            <a:br>
              <a:rPr lang="en-GB" altLang="zh-TW" dirty="0"/>
            </a:br>
            <a:r>
              <a:rPr lang="en-GB" altLang="zh-TW" dirty="0"/>
              <a:t>to </a:t>
            </a:r>
            <a:r>
              <a:rPr lang="en-GB" altLang="zh-TW" dirty="0" err="1"/>
              <a:t>může</a:t>
            </a:r>
            <a:r>
              <a:rPr lang="en-GB" altLang="zh-TW" dirty="0"/>
              <a:t> </a:t>
            </a:r>
            <a:r>
              <a:rPr lang="en-GB" altLang="zh-TW" dirty="0" err="1"/>
              <a:t>připomínat</a:t>
            </a:r>
            <a:r>
              <a:rPr lang="en-GB" altLang="zh-TW" dirty="0"/>
              <a:t> </a:t>
            </a:r>
            <a:r>
              <a:rPr lang="en-GB" altLang="zh-TW" dirty="0" err="1"/>
              <a:t>tzv</a:t>
            </a:r>
            <a:r>
              <a:rPr lang="en-GB" altLang="zh-TW" dirty="0"/>
              <a:t>. </a:t>
            </a:r>
            <a:r>
              <a:rPr lang="en-GB" altLang="zh-TW" b="1" dirty="0" err="1"/>
              <a:t>Giffenův</a:t>
            </a:r>
            <a:r>
              <a:rPr lang="en-GB" altLang="zh-TW" b="1" dirty="0"/>
              <a:t> </a:t>
            </a:r>
            <a:r>
              <a:rPr lang="en-GB" altLang="zh-TW" b="1" dirty="0" err="1"/>
              <a:t>statek</a:t>
            </a:r>
            <a:r>
              <a:rPr lang="en-GB" altLang="zh-TW" dirty="0"/>
              <a:t>,</a:t>
            </a:r>
            <a:br>
              <a:rPr lang="en-GB" altLang="zh-TW" dirty="0"/>
            </a:br>
            <a:r>
              <a:rPr lang="en-GB" altLang="zh-TW" dirty="0"/>
              <a:t>ale </a:t>
            </a:r>
            <a:r>
              <a:rPr lang="en-GB" altLang="zh-TW" dirty="0" err="1"/>
              <a:t>spíš</a:t>
            </a:r>
            <a:r>
              <a:rPr lang="en-GB" altLang="zh-TW" dirty="0"/>
              <a:t> </a:t>
            </a:r>
            <a:r>
              <a:rPr lang="en-GB" altLang="zh-TW" dirty="0" err="1"/>
              <a:t>jde</a:t>
            </a:r>
            <a:r>
              <a:rPr lang="en-GB" altLang="zh-TW" dirty="0"/>
              <a:t> o </a:t>
            </a:r>
            <a:r>
              <a:rPr lang="en-GB" altLang="zh-TW" dirty="0" err="1"/>
              <a:t>vliv</a:t>
            </a:r>
            <a:r>
              <a:rPr lang="en-GB" altLang="zh-TW" dirty="0"/>
              <a:t> </a:t>
            </a:r>
            <a:r>
              <a:rPr lang="en-GB" altLang="zh-TW" dirty="0" err="1"/>
              <a:t>mimoekonomických</a:t>
            </a:r>
            <a:r>
              <a:rPr lang="en-GB" altLang="zh-TW" dirty="0"/>
              <a:t> </a:t>
            </a:r>
            <a:r>
              <a:rPr lang="en-GB" altLang="zh-TW" dirty="0" err="1"/>
              <a:t>faktorů</a:t>
            </a:r>
            <a:r>
              <a:rPr lang="en-GB" altLang="zh-TW" dirty="0"/>
              <a:t>, </a:t>
            </a:r>
            <a:r>
              <a:rPr lang="en-GB" altLang="zh-TW" dirty="0" err="1"/>
              <a:t>například</a:t>
            </a:r>
            <a:r>
              <a:rPr lang="en-GB" altLang="zh-TW" dirty="0"/>
              <a:t> </a:t>
            </a:r>
            <a:r>
              <a:rPr lang="en-GB" altLang="zh-TW" dirty="0" err="1"/>
              <a:t>počasí</a:t>
            </a:r>
            <a:r>
              <a:rPr lang="en-GB" altLang="zh-TW" dirty="0"/>
              <a:t> </a:t>
            </a:r>
            <a:r>
              <a:rPr lang="en-GB" altLang="zh-TW" dirty="0" err="1"/>
              <a:t>nebo</a:t>
            </a:r>
            <a:r>
              <a:rPr lang="en-GB" altLang="zh-TW" dirty="0"/>
              <a:t> </a:t>
            </a:r>
            <a:r>
              <a:rPr lang="en-GB" altLang="zh-TW" dirty="0" err="1"/>
              <a:t>sklizeň</a:t>
            </a:r>
            <a:r>
              <a:rPr lang="en-GB" altLang="zh-TW" dirty="0"/>
              <a:t>.“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968989-46C8-4564-A19D-E3F92BD6A515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89098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zh-TW" b="1" dirty="0"/>
              <a:t>- V </a:t>
            </a:r>
            <a:r>
              <a:rPr lang="en-GB" altLang="zh-TW" b="1" dirty="0" err="1"/>
              <a:t>letech</a:t>
            </a:r>
            <a:r>
              <a:rPr lang="en-GB" altLang="zh-TW" b="1" dirty="0"/>
              <a:t> 2014, 2016 a 2019</a:t>
            </a:r>
            <a:r>
              <a:rPr lang="en-GB" altLang="zh-TW" dirty="0"/>
              <a:t> se </a:t>
            </a:r>
            <a:r>
              <a:rPr lang="en-GB" altLang="zh-TW" dirty="0" err="1"/>
              <a:t>hodnoty</a:t>
            </a:r>
            <a:r>
              <a:rPr lang="en-GB" altLang="zh-TW" dirty="0"/>
              <a:t> </a:t>
            </a:r>
            <a:r>
              <a:rPr lang="en-GB" altLang="zh-TW" dirty="0" err="1"/>
              <a:t>křížové</a:t>
            </a:r>
            <a:r>
              <a:rPr lang="en-GB" altLang="zh-TW" dirty="0"/>
              <a:t> elasticity </a:t>
            </a:r>
            <a:r>
              <a:rPr lang="en-GB" altLang="zh-TW" dirty="0" err="1"/>
              <a:t>pohybují</a:t>
            </a:r>
            <a:r>
              <a:rPr lang="en-GB" altLang="zh-TW" dirty="0"/>
              <a:t> </a:t>
            </a:r>
            <a:r>
              <a:rPr lang="en-GB" altLang="zh-TW" dirty="0" err="1"/>
              <a:t>nad</a:t>
            </a:r>
            <a:r>
              <a:rPr lang="en-GB" altLang="zh-TW" dirty="0"/>
              <a:t> </a:t>
            </a:r>
            <a:r>
              <a:rPr lang="en-GB" altLang="zh-TW" dirty="0" err="1"/>
              <a:t>nulou</a:t>
            </a:r>
            <a:r>
              <a:rPr lang="en-GB" altLang="zh-TW" dirty="0"/>
              <a:t>, </a:t>
            </a:r>
            <a:r>
              <a:rPr lang="en-GB" altLang="zh-TW" dirty="0" err="1"/>
              <a:t>což</a:t>
            </a:r>
            <a:r>
              <a:rPr lang="en-GB" altLang="zh-TW" dirty="0"/>
              <a:t> </a:t>
            </a:r>
            <a:r>
              <a:rPr lang="en-GB" altLang="zh-TW" dirty="0" err="1"/>
              <a:t>znamená</a:t>
            </a:r>
            <a:r>
              <a:rPr lang="en-GB" altLang="zh-TW" dirty="0"/>
              <a:t>, </a:t>
            </a:r>
            <a:r>
              <a:rPr lang="en-GB" altLang="zh-TW" dirty="0" err="1"/>
              <a:t>že</a:t>
            </a:r>
            <a:r>
              <a:rPr lang="en-GB" altLang="zh-TW" dirty="0"/>
              <a:t> </a:t>
            </a:r>
            <a:r>
              <a:rPr lang="en-GB" altLang="zh-TW" b="1" dirty="0" err="1"/>
              <a:t>brambory</a:t>
            </a:r>
            <a:r>
              <a:rPr lang="en-GB" altLang="zh-TW" b="1" dirty="0"/>
              <a:t> a </a:t>
            </a:r>
            <a:r>
              <a:rPr lang="en-GB" altLang="zh-TW" b="1" dirty="0" err="1"/>
              <a:t>rýže</a:t>
            </a:r>
            <a:r>
              <a:rPr lang="en-GB" altLang="zh-TW" b="1" dirty="0"/>
              <a:t> </a:t>
            </a:r>
            <a:r>
              <a:rPr lang="en-GB" altLang="zh-TW" b="1" dirty="0" err="1"/>
              <a:t>působí</a:t>
            </a:r>
            <a:r>
              <a:rPr lang="en-GB" altLang="zh-TW" b="1" dirty="0"/>
              <a:t> </a:t>
            </a:r>
            <a:r>
              <a:rPr lang="en-GB" altLang="zh-TW" b="1" dirty="0" err="1"/>
              <a:t>jako</a:t>
            </a:r>
            <a:r>
              <a:rPr lang="en-GB" altLang="zh-TW" b="1" dirty="0"/>
              <a:t> </a:t>
            </a:r>
            <a:r>
              <a:rPr lang="en-GB" altLang="zh-TW" b="1" dirty="0" err="1"/>
              <a:t>substituty</a:t>
            </a:r>
            <a:r>
              <a:rPr lang="en-GB" altLang="zh-TW" dirty="0"/>
              <a:t>.</a:t>
            </a:r>
            <a:br>
              <a:rPr lang="en-GB" altLang="zh-TW" dirty="0"/>
            </a:br>
            <a:r>
              <a:rPr lang="en-GB" altLang="zh-TW" dirty="0"/>
              <a:t> V </a:t>
            </a:r>
            <a:r>
              <a:rPr lang="en-GB" altLang="zh-TW" dirty="0" err="1"/>
              <a:t>těchto</a:t>
            </a:r>
            <a:r>
              <a:rPr lang="en-GB" altLang="zh-TW" dirty="0"/>
              <a:t> </a:t>
            </a:r>
            <a:r>
              <a:rPr lang="en-GB" altLang="zh-TW" dirty="0" err="1"/>
              <a:t>letech</a:t>
            </a:r>
            <a:r>
              <a:rPr lang="en-GB" altLang="zh-TW" dirty="0"/>
              <a:t> je </a:t>
            </a:r>
            <a:r>
              <a:rPr lang="en-GB" altLang="zh-TW" dirty="0" err="1"/>
              <a:t>tato</a:t>
            </a:r>
            <a:r>
              <a:rPr lang="en-GB" altLang="zh-TW" dirty="0"/>
              <a:t> </a:t>
            </a:r>
            <a:r>
              <a:rPr lang="en-GB" altLang="zh-TW" dirty="0" err="1"/>
              <a:t>závislost</a:t>
            </a:r>
            <a:r>
              <a:rPr lang="en-GB" altLang="zh-TW" dirty="0"/>
              <a:t> </a:t>
            </a:r>
            <a:r>
              <a:rPr lang="en-GB" altLang="zh-TW" dirty="0" err="1"/>
              <a:t>poměrně</a:t>
            </a:r>
            <a:r>
              <a:rPr lang="en-GB" altLang="zh-TW" dirty="0"/>
              <a:t> </a:t>
            </a:r>
            <a:r>
              <a:rPr lang="en-GB" altLang="zh-TW" dirty="0" err="1"/>
              <a:t>silná</a:t>
            </a:r>
            <a:r>
              <a:rPr lang="en-GB" altLang="zh-TW" dirty="0"/>
              <a:t>.</a:t>
            </a:r>
            <a:endParaRPr lang="zh-TW" altLang="en-US" dirty="0"/>
          </a:p>
          <a:p>
            <a:pPr marL="171450" indent="-171450">
              <a:buFontTx/>
              <a:buChar char="-"/>
            </a:pPr>
            <a:r>
              <a:rPr lang="en-GB" altLang="zh-TW" b="1" dirty="0"/>
              <a:t>V </a:t>
            </a:r>
            <a:r>
              <a:rPr lang="en-GB" altLang="zh-TW" b="1" dirty="0" err="1"/>
              <a:t>ostatních</a:t>
            </a:r>
            <a:r>
              <a:rPr lang="en-GB" altLang="zh-TW" b="1" dirty="0"/>
              <a:t> </a:t>
            </a:r>
            <a:r>
              <a:rPr lang="en-GB" altLang="zh-TW" b="1" dirty="0" err="1"/>
              <a:t>letech</a:t>
            </a:r>
            <a:r>
              <a:rPr lang="en-GB" altLang="zh-TW" dirty="0"/>
              <a:t> (</a:t>
            </a:r>
            <a:r>
              <a:rPr lang="en-GB" altLang="zh-TW" dirty="0" err="1"/>
              <a:t>kromě</a:t>
            </a:r>
            <a:r>
              <a:rPr lang="en-GB" altLang="zh-TW" dirty="0"/>
              <a:t> 2015 a 2020) </a:t>
            </a:r>
            <a:r>
              <a:rPr lang="en-GB" altLang="zh-TW" dirty="0" err="1"/>
              <a:t>jsou</a:t>
            </a:r>
            <a:r>
              <a:rPr lang="en-GB" altLang="zh-TW" dirty="0"/>
              <a:t> </a:t>
            </a:r>
            <a:r>
              <a:rPr lang="en-GB" altLang="zh-TW" dirty="0" err="1"/>
              <a:t>hodnoty</a:t>
            </a:r>
            <a:r>
              <a:rPr lang="en-GB" altLang="zh-TW" dirty="0"/>
              <a:t> pod </a:t>
            </a:r>
            <a:r>
              <a:rPr lang="en-GB" altLang="zh-TW" dirty="0" err="1"/>
              <a:t>nulou</a:t>
            </a:r>
            <a:r>
              <a:rPr lang="en-GB" altLang="zh-TW" dirty="0"/>
              <a:t>, ale </a:t>
            </a:r>
            <a:r>
              <a:rPr lang="en-GB" altLang="zh-TW" b="1" dirty="0" err="1"/>
              <a:t>komplementární</a:t>
            </a:r>
            <a:r>
              <a:rPr lang="en-GB" altLang="zh-TW" b="1" dirty="0"/>
              <a:t> </a:t>
            </a:r>
            <a:r>
              <a:rPr lang="en-GB" altLang="zh-TW" b="1" dirty="0" err="1"/>
              <a:t>vztah</a:t>
            </a:r>
            <a:r>
              <a:rPr lang="en-GB" altLang="zh-TW" b="1" dirty="0"/>
              <a:t> </a:t>
            </a:r>
            <a:r>
              <a:rPr lang="en-GB" altLang="zh-TW" b="1" dirty="0" err="1"/>
              <a:t>není</a:t>
            </a:r>
            <a:r>
              <a:rPr lang="en-GB" altLang="zh-TW" b="1" dirty="0"/>
              <a:t> </a:t>
            </a:r>
            <a:r>
              <a:rPr lang="en-GB" altLang="zh-TW" b="1" dirty="0" err="1"/>
              <a:t>výrazný</a:t>
            </a:r>
            <a:r>
              <a:rPr lang="en-GB" altLang="zh-TW" dirty="0"/>
              <a:t> – </a:t>
            </a:r>
            <a:r>
              <a:rPr lang="en-GB" altLang="zh-TW" dirty="0" err="1"/>
              <a:t>poptávka</a:t>
            </a:r>
            <a:r>
              <a:rPr lang="en-GB" altLang="zh-TW" dirty="0"/>
              <a:t> </a:t>
            </a:r>
            <a:r>
              <a:rPr lang="en-GB" altLang="zh-TW" dirty="0" err="1"/>
              <a:t>reaguje</a:t>
            </a:r>
            <a:r>
              <a:rPr lang="en-GB" altLang="zh-TW" dirty="0"/>
              <a:t> </a:t>
            </a:r>
            <a:r>
              <a:rPr lang="en-GB" altLang="zh-TW" dirty="0" err="1"/>
              <a:t>jen</a:t>
            </a:r>
            <a:r>
              <a:rPr lang="en-GB" altLang="zh-TW" dirty="0"/>
              <a:t> </a:t>
            </a:r>
            <a:r>
              <a:rPr lang="en-GB" altLang="zh-TW" dirty="0" err="1"/>
              <a:t>velmi</a:t>
            </a:r>
            <a:r>
              <a:rPr lang="en-GB" altLang="zh-TW" dirty="0"/>
              <a:t> </a:t>
            </a:r>
            <a:r>
              <a:rPr lang="en-GB" altLang="zh-TW" dirty="0" err="1"/>
              <a:t>málo</a:t>
            </a:r>
            <a:r>
              <a:rPr lang="en-GB" altLang="zh-TW" dirty="0"/>
              <a:t>.</a:t>
            </a:r>
          </a:p>
          <a:p>
            <a:pPr marL="171450" indent="-171450">
              <a:buFontTx/>
              <a:buChar char="-"/>
            </a:pPr>
            <a:r>
              <a:rPr lang="en-GB" altLang="zh-TW" b="1" dirty="0" err="1"/>
              <a:t>Roky</a:t>
            </a:r>
            <a:r>
              <a:rPr lang="en-GB" altLang="zh-TW" b="1" dirty="0"/>
              <a:t> 2015 a 2020</a:t>
            </a:r>
            <a:r>
              <a:rPr lang="en-GB" altLang="zh-TW" dirty="0"/>
              <a:t> </a:t>
            </a:r>
            <a:r>
              <a:rPr lang="en-GB" altLang="zh-TW" dirty="0" err="1"/>
              <a:t>jsou</a:t>
            </a:r>
            <a:r>
              <a:rPr lang="en-GB" altLang="zh-TW" dirty="0"/>
              <a:t> </a:t>
            </a:r>
            <a:r>
              <a:rPr lang="en-GB" altLang="zh-TW" dirty="0" err="1"/>
              <a:t>výjimky</a:t>
            </a:r>
            <a:r>
              <a:rPr lang="en-GB" altLang="zh-TW" dirty="0"/>
              <a:t> – </a:t>
            </a:r>
            <a:r>
              <a:rPr lang="en-GB" altLang="zh-TW" dirty="0" err="1"/>
              <a:t>zde</a:t>
            </a:r>
            <a:r>
              <a:rPr lang="en-GB" altLang="zh-TW" dirty="0"/>
              <a:t> se </a:t>
            </a:r>
            <a:r>
              <a:rPr lang="en-GB" altLang="zh-TW" dirty="0" err="1"/>
              <a:t>hodnoty</a:t>
            </a:r>
            <a:r>
              <a:rPr lang="en-GB" altLang="zh-TW" dirty="0"/>
              <a:t> </a:t>
            </a:r>
            <a:r>
              <a:rPr lang="en-GB" altLang="zh-TW" dirty="0" err="1"/>
              <a:t>výrazně</a:t>
            </a:r>
            <a:r>
              <a:rPr lang="en-GB" altLang="zh-TW" dirty="0"/>
              <a:t> </a:t>
            </a:r>
            <a:r>
              <a:rPr lang="en-GB" altLang="zh-TW" dirty="0" err="1"/>
              <a:t>odlišují</a:t>
            </a:r>
            <a:r>
              <a:rPr lang="en-GB" altLang="zh-TW" dirty="0"/>
              <a:t> </a:t>
            </a:r>
            <a:r>
              <a:rPr lang="en-GB" altLang="zh-TW" dirty="0" err="1"/>
              <a:t>jak</a:t>
            </a:r>
            <a:r>
              <a:rPr lang="en-GB" altLang="zh-TW" dirty="0"/>
              <a:t> u </a:t>
            </a:r>
            <a:r>
              <a:rPr lang="en-GB" altLang="zh-TW" b="1" dirty="0" err="1"/>
              <a:t>křížové</a:t>
            </a:r>
            <a:r>
              <a:rPr lang="en-GB" altLang="zh-TW" dirty="0"/>
              <a:t>, </a:t>
            </a:r>
            <a:r>
              <a:rPr lang="en-GB" altLang="zh-TW" dirty="0" err="1"/>
              <a:t>tak</a:t>
            </a:r>
            <a:r>
              <a:rPr lang="en-GB" altLang="zh-TW" dirty="0"/>
              <a:t> u </a:t>
            </a:r>
            <a:r>
              <a:rPr lang="en-GB" altLang="zh-TW" b="1" dirty="0" err="1"/>
              <a:t>cenové</a:t>
            </a:r>
            <a:r>
              <a:rPr lang="en-GB" altLang="zh-TW" b="1" dirty="0"/>
              <a:t> elasticity</a:t>
            </a:r>
            <a:r>
              <a:rPr lang="en-GB" altLang="zh-TW" dirty="0"/>
              <a:t>.</a:t>
            </a:r>
            <a:br>
              <a:rPr lang="en-GB" altLang="zh-TW" dirty="0"/>
            </a:br>
            <a:r>
              <a:rPr lang="en-GB" altLang="zh-TW" dirty="0"/>
              <a:t> </a:t>
            </a:r>
            <a:r>
              <a:rPr lang="en-GB" altLang="zh-TW" dirty="0" err="1"/>
              <a:t>Může</a:t>
            </a:r>
            <a:r>
              <a:rPr lang="en-GB" altLang="zh-TW" dirty="0"/>
              <a:t> </a:t>
            </a:r>
            <a:r>
              <a:rPr lang="en-GB" altLang="zh-TW" dirty="0" err="1"/>
              <a:t>jít</a:t>
            </a:r>
            <a:r>
              <a:rPr lang="en-GB" altLang="zh-TW" dirty="0"/>
              <a:t> o </a:t>
            </a:r>
            <a:r>
              <a:rPr lang="en-GB" altLang="zh-TW" dirty="0" err="1"/>
              <a:t>vliv</a:t>
            </a:r>
            <a:r>
              <a:rPr lang="en-GB" altLang="zh-TW" dirty="0"/>
              <a:t> </a:t>
            </a:r>
            <a:r>
              <a:rPr lang="en-GB" altLang="zh-TW" dirty="0" err="1"/>
              <a:t>mimoekonomických</a:t>
            </a:r>
            <a:r>
              <a:rPr lang="en-GB" altLang="zh-TW" dirty="0"/>
              <a:t> </a:t>
            </a:r>
            <a:r>
              <a:rPr lang="en-GB" altLang="zh-TW" dirty="0" err="1"/>
              <a:t>faktorů</a:t>
            </a:r>
            <a:r>
              <a:rPr lang="en-GB" altLang="zh-TW" dirty="0"/>
              <a:t> (</a:t>
            </a:r>
            <a:r>
              <a:rPr lang="en-GB" altLang="zh-TW" dirty="0" err="1"/>
              <a:t>např</a:t>
            </a:r>
            <a:r>
              <a:rPr lang="en-GB" altLang="zh-TW" dirty="0"/>
              <a:t>. </a:t>
            </a:r>
            <a:r>
              <a:rPr lang="en-GB" altLang="zh-TW" dirty="0" err="1"/>
              <a:t>úroda</a:t>
            </a:r>
            <a:r>
              <a:rPr lang="en-GB" altLang="zh-TW" dirty="0"/>
              <a:t>, </a:t>
            </a:r>
            <a:r>
              <a:rPr lang="en-GB" altLang="zh-TW" dirty="0" err="1"/>
              <a:t>pandemie</a:t>
            </a:r>
            <a:r>
              <a:rPr lang="en-GB" altLang="zh-TW" dirty="0"/>
              <a:t>, </a:t>
            </a:r>
            <a:r>
              <a:rPr lang="en-GB" altLang="zh-TW" dirty="0" err="1"/>
              <a:t>změny</a:t>
            </a:r>
            <a:r>
              <a:rPr lang="en-GB" altLang="zh-TW" dirty="0"/>
              <a:t> </a:t>
            </a:r>
            <a:r>
              <a:rPr lang="en-GB" altLang="zh-TW" dirty="0" err="1"/>
              <a:t>příjmů</a:t>
            </a:r>
            <a:r>
              <a:rPr lang="en-GB" altLang="zh-TW" dirty="0"/>
              <a:t>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968989-46C8-4564-A19D-E3F92BD6A515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4070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C8642E-99C0-D24D-6FEC-E91455F648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5A00290-142B-84EF-30F7-8AD209FDA4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GB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696A65A-DA01-9EED-4A70-3B1111E16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2485B-28EF-42F4-A92C-6EA64728E917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3C69979-7946-9C46-752F-6A7F859A2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39EA016-6F99-277C-F280-B5A735A00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60911-F59D-4A99-8E1E-D4596C9759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5926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EC0D98-E791-D68E-40D1-C1B4639AD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5F0837D-2801-4E6D-64B4-3990194D1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75EDA0A-DD46-BC01-D441-F7BFC6822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2485B-28EF-42F4-A92C-6EA64728E917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8538C98-D301-BB6F-98BA-8228D6EB2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8248CB8-9F1D-FB67-165D-64A547629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60911-F59D-4A99-8E1E-D4596C9759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2420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682EE7-93F0-E1A3-6085-051EC2B1E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05A2589-FC96-3B8E-FA13-B3D1F4E8F4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9025B9E-BA5D-1075-25D5-15D5A95DA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2485B-28EF-42F4-A92C-6EA64728E917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B342A3-D6D0-269B-FF10-7023FF373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43BECFB-4172-3EB9-13C2-A044904E6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60911-F59D-4A99-8E1E-D4596C9759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1557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50CC95-D76A-0134-C5FC-595A0A566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14DC142-9380-CD1E-B5F0-3EABF985FC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5B27A62-B6F3-3548-7AA3-97E05AC06F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49BBF50-D5F9-88BC-2849-BB5271572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2485B-28EF-42F4-A92C-6EA64728E917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6080052-6366-7D43-9E42-CBD97BAB6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3E2BF30-D545-6C8F-B9F7-7CD844D4E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60911-F59D-4A99-8E1E-D4596C9759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9509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CD8754-938E-521D-8937-56C4DAEF6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03CE7C3-2D86-C2B5-EBF7-1B0B10E0E3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3BF1690-E0A1-FACF-CE2C-62FBBE54BB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CC492F5-B347-B603-3A79-80D3E5BD3C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B7B45E3-AAC2-AA9D-A989-AB690E6FBA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7D0C2D8-EB17-74F7-AF96-479CC5995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2485B-28EF-42F4-A92C-6EA64728E917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4CF236A9-69EC-3CB3-A08A-E8BF23F4D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48ABCBA-DF57-33BF-69E6-3898E9938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60911-F59D-4A99-8E1E-D4596C9759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5159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4C7861-FD3A-53BF-1534-F8381509A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B4C1331-1C1A-196D-4E0E-B5873AF88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2485B-28EF-42F4-A92C-6EA64728E917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3DAC233-6DAC-7C54-4AD8-AB9739EAD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9FB594F-64CC-EC9D-C6CE-880B9C39B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60911-F59D-4A99-8E1E-D4596C9759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7658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6BCDCB4-F2AC-7BFE-47B5-36F773DE0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2485B-28EF-42F4-A92C-6EA64728E917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90B2C96-2E1C-F46D-1226-AAC8D0B6A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31225C2-F8B8-2100-BB19-DBC1D6C31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60911-F59D-4A99-8E1E-D4596C9759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426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187B50-5F53-6B79-9D15-9B69CC3F9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F2F7FF1-9CE7-7B73-2D9D-7518F793C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BE517BB-7877-A1ED-1496-C160E9CF02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053B0E9-89FF-6179-C8FE-1A12E60B8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2485B-28EF-42F4-A92C-6EA64728E917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E9F5A30-CC27-D34D-491D-8A70D0927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B95DACE-75EB-4046-208D-9FCA346DB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60911-F59D-4A99-8E1E-D4596C9759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5335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1780D0-C75F-917B-4350-86AC9AF7C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92A0CC9-E8D5-11FC-DE2B-5AF2AAEE65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D73A863-05A0-26B8-9D52-40C98206CD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FDB2EEF-181E-6983-1C53-45BF8E064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2485B-28EF-42F4-A92C-6EA64728E917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1DA4A66-2FCE-B406-7D3B-94E270A06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76158CB-3E6D-736E-8E88-6BDED45FB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60911-F59D-4A99-8E1E-D4596C9759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3844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A7EBE-FD3C-17A2-B2FE-3D4627763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6F9F895-9C8C-CB1E-A35E-86FD2F85A3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3270CC7-9921-D807-152A-D9CCF2428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2485B-28EF-42F4-A92C-6EA64728E917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A7D3859-6DB9-A53F-9069-93017D4E2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5A62E17-2D3B-F61C-645F-68F2E8C04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60911-F59D-4A99-8E1E-D4596C9759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0278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3C68E05-4DA8-ADF5-C166-7FDFF3738E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CD4C484-3C49-13B2-FB7E-561FF7583A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264565F-7925-3CF2-D43A-3934BB41B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2485B-28EF-42F4-A92C-6EA64728E917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E0238FB-98AD-F681-7F96-CB55E0128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C2F1C93-85C9-B814-FC76-355ADA444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60911-F59D-4A99-8E1E-D4596C9759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50067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F711C4-868B-DDE0-5CD5-C7E02BB2B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3C3D28C-EBCB-1073-07EE-FAE53188AE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GB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E6EA5D-F0E3-B43F-7D88-99B1E83D5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D0011-D99A-4061-8867-F3F3C5609B2D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9E8D57B-A75A-811B-791D-C4552BCFD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976DB60-1490-237E-5B46-8EB02EDF2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5379E-2AD2-49D2-91D8-AECAE1BDD5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12170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B58A82-2C15-841B-A1EC-0DFDA76AA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9099499-CD00-7D68-FF1F-1C813A4DE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8DA62E8-E311-AA82-A705-210A509F4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D0011-D99A-4061-8867-F3F3C5609B2D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EF22482-9943-B238-E52F-2FAF6347C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5E7B138-6216-EDDC-E9AF-693F77AAF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5379E-2AD2-49D2-91D8-AECAE1BDD5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07010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0EBD04-6A5A-E37C-3A21-4DA929E18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9CE0088-01F9-29DF-91F1-70F789B6E3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30E5F41-C6BF-1737-52D7-586D189F0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D0011-D99A-4061-8867-F3F3C5609B2D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9410AB4-8FB8-CEC2-1160-D23A63C46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4B0C781-898A-4258-547F-E11BFFBB1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5379E-2AD2-49D2-91D8-AECAE1BDD5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72869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F25842-C348-ACA1-711B-083337467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CFCC1EE-F8AA-C0A3-CB0B-15B64E22CC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88DCA16-65EC-E449-270E-AF3C582567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F15F96F-B72D-C230-584B-48653016F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D0011-D99A-4061-8867-F3F3C5609B2D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7DB75A3-2A43-95FF-76EA-F68CC5A8C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11BCEA4-4F20-E26A-648D-B228A66A3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5379E-2AD2-49D2-91D8-AECAE1BDD5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8433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50AEAD-CFFB-49D5-155B-CBD35E7F9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CF409F4-A345-A34C-E3A9-F83C983197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A0749D6-F061-59EB-1776-F5C2A3C0F0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76E3591-E270-6A9E-A09E-7D7871A659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5E61BA6-2262-17DD-1139-9F4D4D6444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F934D1E-AD85-033E-35EA-3ACC092ED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D0011-D99A-4061-8867-F3F3C5609B2D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E9337B4-5977-BDC1-DB70-3FEB978BE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EE75639-6790-DAAC-A3FF-F97F3585B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5379E-2AD2-49D2-91D8-AECAE1BDD5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52708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142791-ED95-B847-CF9E-7D4BACC46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1456344-8072-FA8A-8F0D-C0564BCA4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D0011-D99A-4061-8867-F3F3C5609B2D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3C44C04-49BB-2628-DF7F-6A763893D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371CB3E-C85F-1074-D200-009802D2E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5379E-2AD2-49D2-91D8-AECAE1BDD5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16133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63E27FD-FE3D-4765-6710-DE2944BEE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D0011-D99A-4061-8867-F3F3C5609B2D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1359B79-7BD3-F2D5-9638-A9115274E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F1F2A55-8007-C77C-7C6F-AAD943FEB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5379E-2AD2-49D2-91D8-AECAE1BDD5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517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FB2A85-E8F9-3328-1024-55810675F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005726-98A5-0430-0F03-1AAF7E5D34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236C3D0-A585-FF87-828F-2FFBAE16E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98B3592-7C3E-0292-B75D-A54A04610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D0011-D99A-4061-8867-F3F3C5609B2D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44CD19D-2647-6061-E59D-98343BBFB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2182772-5127-D749-E3A6-407F2ACDC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5379E-2AD2-49D2-91D8-AECAE1BDD5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46414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29EDEA-3368-4CFB-11D3-A8D24A053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B3D0A2C-713B-DA95-EF87-762B7EEB51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820BBC4-6D31-0CB8-6B59-D61AC0EC13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8C9F7EF-CA7B-55AF-23F6-6A16ADDA8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D0011-D99A-4061-8867-F3F3C5609B2D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DDC3C14-EB81-250C-1FD4-BAB7DA116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20F5DCD-4894-F2EE-F598-EF43C1D9F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5379E-2AD2-49D2-91D8-AECAE1BDD5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18434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AB8879-8FFF-508D-67EE-B6D90B4D5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5FC1F08-E779-CCA6-C5CE-3033A359CA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F12760E-0BDB-1703-5C21-7C98869A9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D0011-D99A-4061-8867-F3F3C5609B2D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434D22F-063C-6C03-4695-42FAB5E1D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9076ABF-353C-A0FD-928C-0589F4521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5379E-2AD2-49D2-91D8-AECAE1BDD5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57151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BF36ECD-A62C-356B-53A8-F8EB545960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79D91EC-F41D-7EB1-F497-BE9BA00469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6C14E78-91D4-A963-6FCF-42EFEB962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D0011-D99A-4061-8867-F3F3C5609B2D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797B33A-5674-39F8-1045-1844A2A5E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F41249F-CF40-1629-3D18-220327919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5379E-2AD2-49D2-91D8-AECAE1BDD5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59606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Skupina 13"/>
          <p:cNvGrpSpPr/>
          <p:nvPr/>
        </p:nvGrpSpPr>
        <p:grpSpPr>
          <a:xfrm>
            <a:off x="5442928" y="98158"/>
            <a:ext cx="6747477" cy="6769336"/>
            <a:chOff x="5305036" y="1082427"/>
            <a:chExt cx="8147082" cy="6482605"/>
          </a:xfrm>
        </p:grpSpPr>
        <p:sp>
          <p:nvSpPr>
            <p:cNvPr id="10" name="Ovál 9"/>
            <p:cNvSpPr/>
            <p:nvPr/>
          </p:nvSpPr>
          <p:spPr>
            <a:xfrm>
              <a:off x="5305036" y="1082427"/>
              <a:ext cx="8147081" cy="6480720"/>
            </a:xfrm>
            <a:custGeom>
              <a:avLst/>
              <a:gdLst>
                <a:gd name="connsiteX0" fmla="*/ 0 w 12961440"/>
                <a:gd name="connsiteY0" fmla="*/ 6480720 h 12961440"/>
                <a:gd name="connsiteX1" fmla="*/ 6480720 w 12961440"/>
                <a:gd name="connsiteY1" fmla="*/ 0 h 12961440"/>
                <a:gd name="connsiteX2" fmla="*/ 12961440 w 12961440"/>
                <a:gd name="connsiteY2" fmla="*/ 6480720 h 12961440"/>
                <a:gd name="connsiteX3" fmla="*/ 6480720 w 12961440"/>
                <a:gd name="connsiteY3" fmla="*/ 12961440 h 12961440"/>
                <a:gd name="connsiteX4" fmla="*/ 0 w 12961440"/>
                <a:gd name="connsiteY4" fmla="*/ 6480720 h 12961440"/>
                <a:gd name="connsiteX0" fmla="*/ 0 w 12961440"/>
                <a:gd name="connsiteY0" fmla="*/ 6480720 h 12961440"/>
                <a:gd name="connsiteX1" fmla="*/ 6480720 w 12961440"/>
                <a:gd name="connsiteY1" fmla="*/ 0 h 12961440"/>
                <a:gd name="connsiteX2" fmla="*/ 12961440 w 12961440"/>
                <a:gd name="connsiteY2" fmla="*/ 6480720 h 12961440"/>
                <a:gd name="connsiteX3" fmla="*/ 6480720 w 12961440"/>
                <a:gd name="connsiteY3" fmla="*/ 12961440 h 12961440"/>
                <a:gd name="connsiteX4" fmla="*/ 91440 w 12961440"/>
                <a:gd name="connsiteY4" fmla="*/ 6572160 h 12961440"/>
                <a:gd name="connsiteX0" fmla="*/ 0 w 12961440"/>
                <a:gd name="connsiteY0" fmla="*/ 6480720 h 12961440"/>
                <a:gd name="connsiteX1" fmla="*/ 6480720 w 12961440"/>
                <a:gd name="connsiteY1" fmla="*/ 0 h 12961440"/>
                <a:gd name="connsiteX2" fmla="*/ 12961440 w 12961440"/>
                <a:gd name="connsiteY2" fmla="*/ 6480720 h 12961440"/>
                <a:gd name="connsiteX3" fmla="*/ 6480720 w 12961440"/>
                <a:gd name="connsiteY3" fmla="*/ 12961440 h 12961440"/>
                <a:gd name="connsiteX0" fmla="*/ 0 w 12961440"/>
                <a:gd name="connsiteY0" fmla="*/ 6480720 h 6480720"/>
                <a:gd name="connsiteX1" fmla="*/ 6480720 w 12961440"/>
                <a:gd name="connsiteY1" fmla="*/ 0 h 6480720"/>
                <a:gd name="connsiteX2" fmla="*/ 12961440 w 12961440"/>
                <a:gd name="connsiteY2" fmla="*/ 6480720 h 6480720"/>
                <a:gd name="connsiteX0" fmla="*/ 0 w 6480720"/>
                <a:gd name="connsiteY0" fmla="*/ 6480720 h 6480720"/>
                <a:gd name="connsiteX1" fmla="*/ 6480720 w 6480720"/>
                <a:gd name="connsiteY1" fmla="*/ 0 h 648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480720" h="6480720">
                  <a:moveTo>
                    <a:pt x="0" y="6480720"/>
                  </a:moveTo>
                  <a:cubicBezTo>
                    <a:pt x="0" y="2901517"/>
                    <a:pt x="2901517" y="0"/>
                    <a:pt x="6480720" y="0"/>
                  </a:cubicBezTo>
                </a:path>
              </a:pathLst>
            </a:custGeom>
            <a:noFill/>
            <a:ln w="25400">
              <a:solidFill>
                <a:srgbClr val="F4F4F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sz="2394"/>
            </a:p>
          </p:txBody>
        </p:sp>
        <p:sp>
          <p:nvSpPr>
            <p:cNvPr id="11" name="Ovál 10"/>
            <p:cNvSpPr/>
            <p:nvPr/>
          </p:nvSpPr>
          <p:spPr>
            <a:xfrm>
              <a:off x="9379029" y="4323147"/>
              <a:ext cx="4073088" cy="3240000"/>
            </a:xfrm>
            <a:custGeom>
              <a:avLst/>
              <a:gdLst>
                <a:gd name="connsiteX0" fmla="*/ 0 w 6480000"/>
                <a:gd name="connsiteY0" fmla="*/ 3240000 h 6480000"/>
                <a:gd name="connsiteX1" fmla="*/ 3240000 w 6480000"/>
                <a:gd name="connsiteY1" fmla="*/ 0 h 6480000"/>
                <a:gd name="connsiteX2" fmla="*/ 6480000 w 6480000"/>
                <a:gd name="connsiteY2" fmla="*/ 3240000 h 6480000"/>
                <a:gd name="connsiteX3" fmla="*/ 3240000 w 6480000"/>
                <a:gd name="connsiteY3" fmla="*/ 6480000 h 6480000"/>
                <a:gd name="connsiteX4" fmla="*/ 0 w 6480000"/>
                <a:gd name="connsiteY4" fmla="*/ 3240000 h 6480000"/>
                <a:gd name="connsiteX0" fmla="*/ 0 w 6480000"/>
                <a:gd name="connsiteY0" fmla="*/ 3240000 h 6480000"/>
                <a:gd name="connsiteX1" fmla="*/ 3240000 w 6480000"/>
                <a:gd name="connsiteY1" fmla="*/ 0 h 6480000"/>
                <a:gd name="connsiteX2" fmla="*/ 6480000 w 6480000"/>
                <a:gd name="connsiteY2" fmla="*/ 3240000 h 6480000"/>
                <a:gd name="connsiteX3" fmla="*/ 3240000 w 6480000"/>
                <a:gd name="connsiteY3" fmla="*/ 6480000 h 6480000"/>
                <a:gd name="connsiteX4" fmla="*/ 91440 w 6480000"/>
                <a:gd name="connsiteY4" fmla="*/ 3331440 h 6480000"/>
                <a:gd name="connsiteX0" fmla="*/ 0 w 6480000"/>
                <a:gd name="connsiteY0" fmla="*/ 3240000 h 6480000"/>
                <a:gd name="connsiteX1" fmla="*/ 3240000 w 6480000"/>
                <a:gd name="connsiteY1" fmla="*/ 0 h 6480000"/>
                <a:gd name="connsiteX2" fmla="*/ 6480000 w 6480000"/>
                <a:gd name="connsiteY2" fmla="*/ 3240000 h 6480000"/>
                <a:gd name="connsiteX3" fmla="*/ 3240000 w 6480000"/>
                <a:gd name="connsiteY3" fmla="*/ 6480000 h 6480000"/>
                <a:gd name="connsiteX0" fmla="*/ 0 w 6480000"/>
                <a:gd name="connsiteY0" fmla="*/ 3240000 h 3240000"/>
                <a:gd name="connsiteX1" fmla="*/ 3240000 w 6480000"/>
                <a:gd name="connsiteY1" fmla="*/ 0 h 3240000"/>
                <a:gd name="connsiteX2" fmla="*/ 6480000 w 6480000"/>
                <a:gd name="connsiteY2" fmla="*/ 3240000 h 3240000"/>
                <a:gd name="connsiteX0" fmla="*/ 0 w 3240000"/>
                <a:gd name="connsiteY0" fmla="*/ 3240000 h 3240000"/>
                <a:gd name="connsiteX1" fmla="*/ 3240000 w 3240000"/>
                <a:gd name="connsiteY1" fmla="*/ 0 h 32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240000" h="3240000">
                  <a:moveTo>
                    <a:pt x="0" y="3240000"/>
                  </a:moveTo>
                  <a:cubicBezTo>
                    <a:pt x="0" y="1450597"/>
                    <a:pt x="1450597" y="0"/>
                    <a:pt x="3240000" y="0"/>
                  </a:cubicBezTo>
                </a:path>
              </a:pathLst>
            </a:custGeom>
            <a:noFill/>
            <a:ln w="25400">
              <a:solidFill>
                <a:srgbClr val="009E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sz="2394"/>
            </a:p>
          </p:txBody>
        </p:sp>
        <p:sp>
          <p:nvSpPr>
            <p:cNvPr id="12" name="Ovál 11"/>
            <p:cNvSpPr/>
            <p:nvPr/>
          </p:nvSpPr>
          <p:spPr>
            <a:xfrm>
              <a:off x="7908192" y="3153147"/>
              <a:ext cx="5543925" cy="4410000"/>
            </a:xfrm>
            <a:custGeom>
              <a:avLst/>
              <a:gdLst>
                <a:gd name="connsiteX0" fmla="*/ 0 w 8820000"/>
                <a:gd name="connsiteY0" fmla="*/ 4410000 h 8820000"/>
                <a:gd name="connsiteX1" fmla="*/ 4410000 w 8820000"/>
                <a:gd name="connsiteY1" fmla="*/ 0 h 8820000"/>
                <a:gd name="connsiteX2" fmla="*/ 8820000 w 8820000"/>
                <a:gd name="connsiteY2" fmla="*/ 4410000 h 8820000"/>
                <a:gd name="connsiteX3" fmla="*/ 4410000 w 8820000"/>
                <a:gd name="connsiteY3" fmla="*/ 8820000 h 8820000"/>
                <a:gd name="connsiteX4" fmla="*/ 0 w 8820000"/>
                <a:gd name="connsiteY4" fmla="*/ 4410000 h 8820000"/>
                <a:gd name="connsiteX0" fmla="*/ 0 w 8820000"/>
                <a:gd name="connsiteY0" fmla="*/ 4410000 h 8820000"/>
                <a:gd name="connsiteX1" fmla="*/ 4410000 w 8820000"/>
                <a:gd name="connsiteY1" fmla="*/ 0 h 8820000"/>
                <a:gd name="connsiteX2" fmla="*/ 8820000 w 8820000"/>
                <a:gd name="connsiteY2" fmla="*/ 4410000 h 8820000"/>
                <a:gd name="connsiteX3" fmla="*/ 4410000 w 8820000"/>
                <a:gd name="connsiteY3" fmla="*/ 8820000 h 8820000"/>
                <a:gd name="connsiteX4" fmla="*/ 91440 w 8820000"/>
                <a:gd name="connsiteY4" fmla="*/ 4501440 h 8820000"/>
                <a:gd name="connsiteX0" fmla="*/ 0 w 8820000"/>
                <a:gd name="connsiteY0" fmla="*/ 4410000 h 8820000"/>
                <a:gd name="connsiteX1" fmla="*/ 4410000 w 8820000"/>
                <a:gd name="connsiteY1" fmla="*/ 0 h 8820000"/>
                <a:gd name="connsiteX2" fmla="*/ 8820000 w 8820000"/>
                <a:gd name="connsiteY2" fmla="*/ 4410000 h 8820000"/>
                <a:gd name="connsiteX3" fmla="*/ 4410000 w 8820000"/>
                <a:gd name="connsiteY3" fmla="*/ 8820000 h 8820000"/>
                <a:gd name="connsiteX0" fmla="*/ 0 w 8820000"/>
                <a:gd name="connsiteY0" fmla="*/ 4410000 h 4410000"/>
                <a:gd name="connsiteX1" fmla="*/ 4410000 w 8820000"/>
                <a:gd name="connsiteY1" fmla="*/ 0 h 4410000"/>
                <a:gd name="connsiteX2" fmla="*/ 8820000 w 8820000"/>
                <a:gd name="connsiteY2" fmla="*/ 4410000 h 4410000"/>
                <a:gd name="connsiteX0" fmla="*/ 0 w 4410000"/>
                <a:gd name="connsiteY0" fmla="*/ 4410000 h 4410000"/>
                <a:gd name="connsiteX1" fmla="*/ 4410000 w 4410000"/>
                <a:gd name="connsiteY1" fmla="*/ 0 h 44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410000" h="4410000">
                  <a:moveTo>
                    <a:pt x="0" y="4410000"/>
                  </a:moveTo>
                  <a:cubicBezTo>
                    <a:pt x="0" y="1974424"/>
                    <a:pt x="1974424" y="0"/>
                    <a:pt x="4410000" y="0"/>
                  </a:cubicBezTo>
                </a:path>
              </a:pathLst>
            </a:custGeom>
            <a:noFill/>
            <a:ln w="1016000">
              <a:solidFill>
                <a:srgbClr val="F5F5F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sz="2394"/>
            </a:p>
          </p:txBody>
        </p:sp>
        <p:sp>
          <p:nvSpPr>
            <p:cNvPr id="13" name="Ovál 12"/>
            <p:cNvSpPr/>
            <p:nvPr/>
          </p:nvSpPr>
          <p:spPr>
            <a:xfrm>
              <a:off x="10963009" y="5583147"/>
              <a:ext cx="2489109" cy="1980000"/>
            </a:xfrm>
            <a:custGeom>
              <a:avLst/>
              <a:gdLst>
                <a:gd name="connsiteX0" fmla="*/ 0 w 3960000"/>
                <a:gd name="connsiteY0" fmla="*/ 1980000 h 3960000"/>
                <a:gd name="connsiteX1" fmla="*/ 1980000 w 3960000"/>
                <a:gd name="connsiteY1" fmla="*/ 0 h 3960000"/>
                <a:gd name="connsiteX2" fmla="*/ 3960000 w 3960000"/>
                <a:gd name="connsiteY2" fmla="*/ 1980000 h 3960000"/>
                <a:gd name="connsiteX3" fmla="*/ 1980000 w 3960000"/>
                <a:gd name="connsiteY3" fmla="*/ 3960000 h 3960000"/>
                <a:gd name="connsiteX4" fmla="*/ 0 w 3960000"/>
                <a:gd name="connsiteY4" fmla="*/ 1980000 h 3960000"/>
                <a:gd name="connsiteX0" fmla="*/ 0 w 3960000"/>
                <a:gd name="connsiteY0" fmla="*/ 1980000 h 3960000"/>
                <a:gd name="connsiteX1" fmla="*/ 1980000 w 3960000"/>
                <a:gd name="connsiteY1" fmla="*/ 0 h 3960000"/>
                <a:gd name="connsiteX2" fmla="*/ 3960000 w 3960000"/>
                <a:gd name="connsiteY2" fmla="*/ 1980000 h 3960000"/>
                <a:gd name="connsiteX3" fmla="*/ 1980000 w 3960000"/>
                <a:gd name="connsiteY3" fmla="*/ 3960000 h 3960000"/>
                <a:gd name="connsiteX4" fmla="*/ 91440 w 3960000"/>
                <a:gd name="connsiteY4" fmla="*/ 2071440 h 3960000"/>
                <a:gd name="connsiteX0" fmla="*/ 0 w 3960000"/>
                <a:gd name="connsiteY0" fmla="*/ 1980000 h 3960000"/>
                <a:gd name="connsiteX1" fmla="*/ 1980000 w 3960000"/>
                <a:gd name="connsiteY1" fmla="*/ 0 h 3960000"/>
                <a:gd name="connsiteX2" fmla="*/ 3960000 w 3960000"/>
                <a:gd name="connsiteY2" fmla="*/ 1980000 h 3960000"/>
                <a:gd name="connsiteX3" fmla="*/ 1980000 w 3960000"/>
                <a:gd name="connsiteY3" fmla="*/ 3960000 h 3960000"/>
                <a:gd name="connsiteX0" fmla="*/ 0 w 3960000"/>
                <a:gd name="connsiteY0" fmla="*/ 1980000 h 1980000"/>
                <a:gd name="connsiteX1" fmla="*/ 1980000 w 3960000"/>
                <a:gd name="connsiteY1" fmla="*/ 0 h 1980000"/>
                <a:gd name="connsiteX2" fmla="*/ 3960000 w 3960000"/>
                <a:gd name="connsiteY2" fmla="*/ 1980000 h 1980000"/>
                <a:gd name="connsiteX0" fmla="*/ 0 w 1980000"/>
                <a:gd name="connsiteY0" fmla="*/ 1980000 h 1980000"/>
                <a:gd name="connsiteX1" fmla="*/ 1980000 w 1980000"/>
                <a:gd name="connsiteY1" fmla="*/ 0 h 19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80000" h="1980000">
                  <a:moveTo>
                    <a:pt x="0" y="1980000"/>
                  </a:moveTo>
                  <a:cubicBezTo>
                    <a:pt x="0" y="886476"/>
                    <a:pt x="886476" y="0"/>
                    <a:pt x="1980000" y="0"/>
                  </a:cubicBezTo>
                </a:path>
              </a:pathLst>
            </a:custGeom>
            <a:noFill/>
            <a:ln w="1016000">
              <a:solidFill>
                <a:srgbClr val="E200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sz="2394"/>
            </a:p>
          </p:txBody>
        </p:sp>
        <p:sp>
          <p:nvSpPr>
            <p:cNvPr id="21" name="Ovál 11"/>
            <p:cNvSpPr/>
            <p:nvPr/>
          </p:nvSpPr>
          <p:spPr>
            <a:xfrm>
              <a:off x="12463961" y="6791032"/>
              <a:ext cx="973015" cy="774000"/>
            </a:xfrm>
            <a:custGeom>
              <a:avLst/>
              <a:gdLst>
                <a:gd name="connsiteX0" fmla="*/ 0 w 1548000"/>
                <a:gd name="connsiteY0" fmla="*/ 774000 h 1548000"/>
                <a:gd name="connsiteX1" fmla="*/ 774000 w 1548000"/>
                <a:gd name="connsiteY1" fmla="*/ 0 h 1548000"/>
                <a:gd name="connsiteX2" fmla="*/ 1548000 w 1548000"/>
                <a:gd name="connsiteY2" fmla="*/ 774000 h 1548000"/>
                <a:gd name="connsiteX3" fmla="*/ 774000 w 1548000"/>
                <a:gd name="connsiteY3" fmla="*/ 1548000 h 1548000"/>
                <a:gd name="connsiteX4" fmla="*/ 0 w 1548000"/>
                <a:gd name="connsiteY4" fmla="*/ 774000 h 1548000"/>
                <a:gd name="connsiteX0" fmla="*/ 0 w 1548000"/>
                <a:gd name="connsiteY0" fmla="*/ 774000 h 1548000"/>
                <a:gd name="connsiteX1" fmla="*/ 774000 w 1548000"/>
                <a:gd name="connsiteY1" fmla="*/ 0 h 1548000"/>
                <a:gd name="connsiteX2" fmla="*/ 1548000 w 1548000"/>
                <a:gd name="connsiteY2" fmla="*/ 774000 h 1548000"/>
                <a:gd name="connsiteX3" fmla="*/ 774000 w 1548000"/>
                <a:gd name="connsiteY3" fmla="*/ 1548000 h 1548000"/>
                <a:gd name="connsiteX4" fmla="*/ 91440 w 1548000"/>
                <a:gd name="connsiteY4" fmla="*/ 865440 h 1548000"/>
                <a:gd name="connsiteX0" fmla="*/ 0 w 1548000"/>
                <a:gd name="connsiteY0" fmla="*/ 774000 h 1548000"/>
                <a:gd name="connsiteX1" fmla="*/ 774000 w 1548000"/>
                <a:gd name="connsiteY1" fmla="*/ 0 h 1548000"/>
                <a:gd name="connsiteX2" fmla="*/ 1548000 w 1548000"/>
                <a:gd name="connsiteY2" fmla="*/ 774000 h 1548000"/>
                <a:gd name="connsiteX3" fmla="*/ 774000 w 1548000"/>
                <a:gd name="connsiteY3" fmla="*/ 1548000 h 1548000"/>
                <a:gd name="connsiteX0" fmla="*/ 0 w 1548000"/>
                <a:gd name="connsiteY0" fmla="*/ 774000 h 774000"/>
                <a:gd name="connsiteX1" fmla="*/ 774000 w 1548000"/>
                <a:gd name="connsiteY1" fmla="*/ 0 h 774000"/>
                <a:gd name="connsiteX2" fmla="*/ 1548000 w 1548000"/>
                <a:gd name="connsiteY2" fmla="*/ 774000 h 774000"/>
                <a:gd name="connsiteX0" fmla="*/ 0 w 774000"/>
                <a:gd name="connsiteY0" fmla="*/ 774000 h 774000"/>
                <a:gd name="connsiteX1" fmla="*/ 774000 w 774000"/>
                <a:gd name="connsiteY1" fmla="*/ 0 h 77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74000" h="774000">
                  <a:moveTo>
                    <a:pt x="0" y="774000"/>
                  </a:moveTo>
                  <a:cubicBezTo>
                    <a:pt x="0" y="346532"/>
                    <a:pt x="346532" y="0"/>
                    <a:pt x="774000" y="0"/>
                  </a:cubicBezTo>
                </a:path>
              </a:pathLst>
            </a:custGeom>
            <a:noFill/>
            <a:ln w="698500">
              <a:solidFill>
                <a:srgbClr val="C5C6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sz="2394"/>
            </a:p>
          </p:txBody>
        </p:sp>
      </p:grp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3" y="1318389"/>
            <a:ext cx="9144000" cy="2296530"/>
          </a:xfrm>
        </p:spPr>
        <p:txBody>
          <a:bodyPr anchor="b">
            <a:noAutofit/>
          </a:bodyPr>
          <a:lstStyle>
            <a:lvl1pPr algn="l">
              <a:defRPr sz="4897" spc="-228" baseline="0"/>
            </a:lvl1pPr>
          </a:lstStyle>
          <a:p>
            <a:r>
              <a:rPr lang="zh-TW" altLang="en-US"/>
              <a:t>按一下以編輯母片標題樣式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3" y="3614919"/>
            <a:ext cx="9144000" cy="183871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902" cap="none" spc="-114" baseline="0"/>
            </a:lvl1pPr>
            <a:lvl2pPr marL="521249" indent="0" algn="ctr">
              <a:buNone/>
              <a:defRPr sz="2280"/>
            </a:lvl2pPr>
            <a:lvl3pPr marL="1042499" indent="0" algn="ctr">
              <a:buNone/>
              <a:defRPr sz="2052"/>
            </a:lvl3pPr>
            <a:lvl4pPr marL="1563747" indent="0" algn="ctr">
              <a:buNone/>
              <a:defRPr sz="1824"/>
            </a:lvl4pPr>
            <a:lvl5pPr marL="2084997" indent="0" algn="ctr">
              <a:buNone/>
              <a:defRPr sz="1824"/>
            </a:lvl5pPr>
            <a:lvl6pPr marL="2606246" indent="0" algn="ctr">
              <a:buNone/>
              <a:defRPr sz="1824"/>
            </a:lvl6pPr>
            <a:lvl7pPr marL="3127495" indent="0" algn="ctr">
              <a:buNone/>
              <a:defRPr sz="1824"/>
            </a:lvl7pPr>
            <a:lvl8pPr marL="3648745" indent="0" algn="ctr">
              <a:buNone/>
              <a:defRPr sz="1824"/>
            </a:lvl8pPr>
            <a:lvl9pPr marL="4169994" indent="0" algn="ctr">
              <a:buNone/>
              <a:defRPr sz="1824"/>
            </a:lvl9pPr>
          </a:lstStyle>
          <a:p>
            <a:r>
              <a:rPr lang="zh-TW" altLang="en-US"/>
              <a:t>按一下以編輯母片子標題樣式</a:t>
            </a:r>
            <a:endParaRPr lang="cs-CZ" dirty="0"/>
          </a:p>
        </p:txBody>
      </p:sp>
      <p:grpSp>
        <p:nvGrpSpPr>
          <p:cNvPr id="23" name="Skupina 22"/>
          <p:cNvGrpSpPr/>
          <p:nvPr/>
        </p:nvGrpSpPr>
        <p:grpSpPr>
          <a:xfrm rot="16200000">
            <a:off x="-650901" y="2503945"/>
            <a:ext cx="1765033" cy="456914"/>
            <a:chOff x="2218059" y="-2452"/>
            <a:chExt cx="1946031" cy="503795"/>
          </a:xfrm>
        </p:grpSpPr>
        <p:sp>
          <p:nvSpPr>
            <p:cNvPr id="25" name="Zaoblený obdélník 24"/>
            <p:cNvSpPr/>
            <p:nvPr/>
          </p:nvSpPr>
          <p:spPr>
            <a:xfrm>
              <a:off x="2218059" y="26694"/>
              <a:ext cx="1946031" cy="396255"/>
            </a:xfrm>
            <a:prstGeom prst="roundRect">
              <a:avLst>
                <a:gd name="adj" fmla="val 26282"/>
              </a:avLst>
            </a:prstGeom>
            <a:solidFill>
              <a:srgbClr val="E300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sz="2394"/>
            </a:p>
          </p:txBody>
        </p:sp>
        <p:sp>
          <p:nvSpPr>
            <p:cNvPr id="26" name="Obdélník 25"/>
            <p:cNvSpPr/>
            <p:nvPr/>
          </p:nvSpPr>
          <p:spPr>
            <a:xfrm>
              <a:off x="2218059" y="-2452"/>
              <a:ext cx="1946031" cy="126000"/>
            </a:xfrm>
            <a:prstGeom prst="rect">
              <a:avLst/>
            </a:prstGeom>
            <a:solidFill>
              <a:srgbClr val="009E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sz="2394"/>
            </a:p>
          </p:txBody>
        </p:sp>
        <p:sp>
          <p:nvSpPr>
            <p:cNvPr id="27" name="TextovéPole 26"/>
            <p:cNvSpPr txBox="1"/>
            <p:nvPr/>
          </p:nvSpPr>
          <p:spPr>
            <a:xfrm>
              <a:off x="2240580" y="98143"/>
              <a:ext cx="1900986" cy="40320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cs-CZ" sz="1451" b="1" dirty="0">
                  <a:solidFill>
                    <a:schemeClr val="bg1"/>
                  </a:solidFill>
                </a:rPr>
                <a:t>fm.vse.cz</a:t>
              </a:r>
            </a:p>
          </p:txBody>
        </p:sp>
      </p:grpSp>
      <p:pic>
        <p:nvPicPr>
          <p:cNvPr id="9" name="Obrázek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555330"/>
            <a:ext cx="2285498" cy="626522"/>
          </a:xfrm>
          <a:prstGeom prst="rect">
            <a:avLst/>
          </a:prstGeom>
        </p:spPr>
      </p:pic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9575918" y="6595641"/>
            <a:ext cx="1090133" cy="1959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8" b="0" spc="-91" baseline="0">
                <a:solidFill>
                  <a:schemeClr val="bg1"/>
                </a:solidFill>
              </a:defRPr>
            </a:lvl1pPr>
          </a:lstStyle>
          <a:p>
            <a:fld id="{AD5148BA-E6EA-4621-B3E4-1BB2383F68E9}" type="datetime1">
              <a:rPr lang="en-GB" smtClean="0"/>
              <a:t>03/11/2025</a:t>
            </a:fld>
            <a:endParaRPr lang="en-GB"/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838021" y="6595641"/>
            <a:ext cx="8392904" cy="1959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8" b="0" spc="-91" baseline="0">
                <a:solidFill>
                  <a:srgbClr val="E3007A"/>
                </a:solidFill>
              </a:defRPr>
            </a:lvl1pPr>
          </a:lstStyle>
          <a:p>
            <a:r>
              <a:rPr lang="pt-BR"/>
              <a:t>6MMEM1Modelování v ekonomii a managementu</a:t>
            </a:r>
            <a:endParaRPr lang="en-GB"/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11779954" y="6595641"/>
            <a:ext cx="410451" cy="1959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8" b="0" spc="-91" baseline="0">
                <a:solidFill>
                  <a:srgbClr val="E3007A"/>
                </a:solidFill>
              </a:defRPr>
            </a:lvl1pPr>
          </a:lstStyle>
          <a:p>
            <a:fld id="{1AF8A189-F588-4B6F-8EF8-1BBABAA6D3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6302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8020" y="555079"/>
            <a:ext cx="10515962" cy="1044854"/>
          </a:xfrm>
          <a:effectLst/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48BA-E6EA-4621-B3E4-1BB2383F68E9}" type="datetime1">
              <a:rPr lang="en-GB" smtClean="0"/>
              <a:t>03/11/2025</a:t>
            </a:fld>
            <a:endParaRPr lang="en-GB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6MMEM1Modelování v ekonomii a managementu</a:t>
            </a:r>
            <a:endParaRPr lang="en-GB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8A189-F588-4B6F-8EF8-1BBABAA6D3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0581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2589" y="1709106"/>
            <a:ext cx="10514152" cy="2853780"/>
          </a:xfrm>
        </p:spPr>
        <p:txBody>
          <a:bodyPr anchor="b">
            <a:normAutofit/>
          </a:bodyPr>
          <a:lstStyle>
            <a:lvl1pPr>
              <a:defRPr sz="5472" spc="-228" baseline="0"/>
            </a:lvl1pPr>
          </a:lstStyle>
          <a:p>
            <a:r>
              <a:rPr lang="zh-TW" altLang="en-US"/>
              <a:t>按一下以編輯母片標題樣式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2589" y="4588804"/>
            <a:ext cx="10514152" cy="1500322"/>
          </a:xfrm>
        </p:spPr>
        <p:txBody>
          <a:bodyPr>
            <a:normAutofit/>
          </a:bodyPr>
          <a:lstStyle>
            <a:lvl1pPr marL="0" indent="0">
              <a:buNone/>
              <a:defRPr sz="3192" baseline="0">
                <a:solidFill>
                  <a:schemeClr val="tx1">
                    <a:tint val="75000"/>
                  </a:schemeClr>
                </a:solidFill>
              </a:defRPr>
            </a:lvl1pPr>
            <a:lvl2pPr marL="521249" indent="0">
              <a:buNone/>
              <a:defRPr sz="2280">
                <a:solidFill>
                  <a:schemeClr val="tx1">
                    <a:tint val="75000"/>
                  </a:schemeClr>
                </a:solidFill>
              </a:defRPr>
            </a:lvl2pPr>
            <a:lvl3pPr marL="1042499" indent="0">
              <a:buNone/>
              <a:defRPr sz="2052">
                <a:solidFill>
                  <a:schemeClr val="tx1">
                    <a:tint val="75000"/>
                  </a:schemeClr>
                </a:solidFill>
              </a:defRPr>
            </a:lvl3pPr>
            <a:lvl4pPr marL="1563747" indent="0">
              <a:buNone/>
              <a:defRPr sz="1824">
                <a:solidFill>
                  <a:schemeClr val="tx1">
                    <a:tint val="75000"/>
                  </a:schemeClr>
                </a:solidFill>
              </a:defRPr>
            </a:lvl4pPr>
            <a:lvl5pPr marL="2084997" indent="0">
              <a:buNone/>
              <a:defRPr sz="1824">
                <a:solidFill>
                  <a:schemeClr val="tx1">
                    <a:tint val="75000"/>
                  </a:schemeClr>
                </a:solidFill>
              </a:defRPr>
            </a:lvl5pPr>
            <a:lvl6pPr marL="2606246" indent="0">
              <a:buNone/>
              <a:defRPr sz="1824">
                <a:solidFill>
                  <a:schemeClr val="tx1">
                    <a:tint val="75000"/>
                  </a:schemeClr>
                </a:solidFill>
              </a:defRPr>
            </a:lvl6pPr>
            <a:lvl7pPr marL="3127495" indent="0">
              <a:buNone/>
              <a:defRPr sz="1824">
                <a:solidFill>
                  <a:schemeClr val="tx1">
                    <a:tint val="75000"/>
                  </a:schemeClr>
                </a:solidFill>
              </a:defRPr>
            </a:lvl7pPr>
            <a:lvl8pPr marL="3648745" indent="0">
              <a:buNone/>
              <a:defRPr sz="1824">
                <a:solidFill>
                  <a:schemeClr val="tx1">
                    <a:tint val="75000"/>
                  </a:schemeClr>
                </a:solidFill>
              </a:defRPr>
            </a:lvl8pPr>
            <a:lvl9pPr marL="4169994" indent="0">
              <a:buNone/>
              <a:defRPr sz="182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48BA-E6EA-4621-B3E4-1BB2383F68E9}" type="datetime1">
              <a:rPr lang="en-GB" smtClean="0"/>
              <a:t>03/11/2025</a:t>
            </a:fld>
            <a:endParaRPr lang="en-GB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6MMEM1Modelování v ekonomii a managementu</a:t>
            </a:r>
            <a:endParaRPr lang="en-GB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8A189-F588-4B6F-8EF8-1BBABAA6D3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680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8020" y="555079"/>
            <a:ext cx="10515962" cy="1044854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023" y="1665236"/>
            <a:ext cx="5171101" cy="457123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cs-CZ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82879" y="1665236"/>
            <a:ext cx="5171102" cy="457123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cs-CZ" dirty="0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48BA-E6EA-4621-B3E4-1BB2383F68E9}" type="datetime1">
              <a:rPr lang="en-GB" smtClean="0"/>
              <a:t>03/11/2025</a:t>
            </a:fld>
            <a:endParaRPr lang="en-GB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6MMEM1Modelování v ekonomii a managementu</a:t>
            </a:r>
            <a:endParaRPr lang="en-GB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8A189-F588-4B6F-8EF8-1BBABAA6D3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706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829" y="555079"/>
            <a:ext cx="10515962" cy="1044854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9832" y="1665235"/>
            <a:ext cx="5158432" cy="81629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3192" b="1" cap="all" spc="-171" baseline="0"/>
            </a:lvl1pPr>
            <a:lvl2pPr marL="521249" indent="0">
              <a:buNone/>
              <a:defRPr sz="2280" b="1"/>
            </a:lvl2pPr>
            <a:lvl3pPr marL="1042499" indent="0">
              <a:buNone/>
              <a:defRPr sz="2052" b="1"/>
            </a:lvl3pPr>
            <a:lvl4pPr marL="1563747" indent="0">
              <a:buNone/>
              <a:defRPr sz="1824" b="1"/>
            </a:lvl4pPr>
            <a:lvl5pPr marL="2084997" indent="0">
              <a:buNone/>
              <a:defRPr sz="1824" b="1"/>
            </a:lvl5pPr>
            <a:lvl6pPr marL="2606246" indent="0">
              <a:buNone/>
              <a:defRPr sz="1824" b="1"/>
            </a:lvl6pPr>
            <a:lvl7pPr marL="3127495" indent="0">
              <a:buNone/>
              <a:defRPr sz="1824" b="1"/>
            </a:lvl7pPr>
            <a:lvl8pPr marL="3648745" indent="0">
              <a:buNone/>
              <a:defRPr sz="1824" b="1"/>
            </a:lvl8pPr>
            <a:lvl9pPr marL="4169994" indent="0">
              <a:buNone/>
              <a:defRPr sz="1824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839832" y="2514180"/>
            <a:ext cx="5158432" cy="372229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cs-CZ" dirty="0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2021" y="1665236"/>
            <a:ext cx="5183772" cy="81629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3192" b="1" cap="all" spc="-171" baseline="0"/>
            </a:lvl1pPr>
            <a:lvl2pPr marL="521249" indent="0">
              <a:buNone/>
              <a:defRPr sz="2280" b="1"/>
            </a:lvl2pPr>
            <a:lvl3pPr marL="1042499" indent="0">
              <a:buNone/>
              <a:defRPr sz="2052" b="1"/>
            </a:lvl3pPr>
            <a:lvl4pPr marL="1563747" indent="0">
              <a:buNone/>
              <a:defRPr sz="1824" b="1"/>
            </a:lvl4pPr>
            <a:lvl5pPr marL="2084997" indent="0">
              <a:buNone/>
              <a:defRPr sz="1824" b="1"/>
            </a:lvl5pPr>
            <a:lvl6pPr marL="2606246" indent="0">
              <a:buNone/>
              <a:defRPr sz="1824" b="1"/>
            </a:lvl6pPr>
            <a:lvl7pPr marL="3127495" indent="0">
              <a:buNone/>
              <a:defRPr sz="1824" b="1"/>
            </a:lvl7pPr>
            <a:lvl8pPr marL="3648745" indent="0">
              <a:buNone/>
              <a:defRPr sz="1824" b="1"/>
            </a:lvl8pPr>
            <a:lvl9pPr marL="4169994" indent="0">
              <a:buNone/>
              <a:defRPr sz="1824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2021" y="2514180"/>
            <a:ext cx="5183772" cy="372229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cs-CZ" dirty="0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48BA-E6EA-4621-B3E4-1BB2383F68E9}" type="datetime1">
              <a:rPr lang="en-GB" smtClean="0"/>
              <a:t>03/11/2025</a:t>
            </a:fld>
            <a:endParaRPr lang="en-GB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6MMEM1Modelování v ekonomii a managementu</a:t>
            </a:r>
            <a:endParaRPr lang="en-GB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8A189-F588-4B6F-8EF8-1BBABAA6D3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1289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48BA-E6EA-4621-B3E4-1BB2383F68E9}" type="datetime1">
              <a:rPr lang="en-GB" smtClean="0"/>
              <a:t>03/11/2025</a:t>
            </a:fld>
            <a:endParaRPr lang="en-GB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6MMEM1Modelování v ekonomii a managementu</a:t>
            </a:r>
            <a:endParaRPr lang="en-GB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8A189-F588-4B6F-8EF8-1BBABAA6D3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7342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48BA-E6EA-4621-B3E4-1BB2383F68E9}" type="datetime1">
              <a:rPr lang="en-GB" smtClean="0"/>
              <a:t>03/11/2025</a:t>
            </a:fld>
            <a:endParaRPr lang="en-GB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6MMEM1Modelování v ekonomii a managementu</a:t>
            </a:r>
            <a:endParaRPr lang="en-GB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8A189-F588-4B6F-8EF8-1BBABAA6D3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1971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1787BB-4585-A633-B04C-BE3725811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8CE4162-8F5D-6ED9-DF7B-612631A39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48BA-E6EA-4621-B3E4-1BB2383F68E9}" type="datetime1">
              <a:rPr lang="en-GB" smtClean="0"/>
              <a:t>03/11/2025</a:t>
            </a:fld>
            <a:endParaRPr lang="en-GB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498A9DF-362C-A4D5-D17B-702C8D7B7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6MMEM1Modelování v ekonomii a managementu</a:t>
            </a:r>
            <a:endParaRPr lang="en-GB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17672D8-CA81-2D6B-28C4-358376A7D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8A189-F588-4B6F-8EF8-1BBABAA6D3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7798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36BB18C-0693-F935-F663-72967B38C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E54119F-FC3A-8C47-77FC-62F64BA47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DB6B4CF-C374-7FE9-E245-14982F4B9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22485B-28EF-42F4-A92C-6EA64728E917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8A94438-D3DF-731E-C224-F25D8432A0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2C641BD-F866-0315-887C-08717460EE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360911-F59D-4A99-8E1E-D4596C9759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9518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C29F7403-16BB-A97B-1BD4-B179794DA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6D73555-6567-C26A-7452-FFF7B3AF34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51B76CF-BBE7-AD89-7DCE-AADAC063B0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AD0011-D99A-4061-8867-F3F3C5609B2D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15719E7-6084-671A-6239-94240C5CAD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ECF8B03-7E24-C7A7-6856-8D691A1A18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35379E-2AD2-49D2-91D8-AECAE1BDD5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2810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Skupina 15"/>
          <p:cNvGrpSpPr/>
          <p:nvPr/>
        </p:nvGrpSpPr>
        <p:grpSpPr>
          <a:xfrm>
            <a:off x="5442928" y="98158"/>
            <a:ext cx="6747478" cy="6769333"/>
            <a:chOff x="5305035" y="1082428"/>
            <a:chExt cx="8147083" cy="6482604"/>
          </a:xfrm>
        </p:grpSpPr>
        <p:sp>
          <p:nvSpPr>
            <p:cNvPr id="17" name="Ovál 9"/>
            <p:cNvSpPr/>
            <p:nvPr/>
          </p:nvSpPr>
          <p:spPr>
            <a:xfrm>
              <a:off x="5305035" y="1082428"/>
              <a:ext cx="8147081" cy="6480723"/>
            </a:xfrm>
            <a:custGeom>
              <a:avLst/>
              <a:gdLst>
                <a:gd name="connsiteX0" fmla="*/ 0 w 12961440"/>
                <a:gd name="connsiteY0" fmla="*/ 6480720 h 12961440"/>
                <a:gd name="connsiteX1" fmla="*/ 6480720 w 12961440"/>
                <a:gd name="connsiteY1" fmla="*/ 0 h 12961440"/>
                <a:gd name="connsiteX2" fmla="*/ 12961440 w 12961440"/>
                <a:gd name="connsiteY2" fmla="*/ 6480720 h 12961440"/>
                <a:gd name="connsiteX3" fmla="*/ 6480720 w 12961440"/>
                <a:gd name="connsiteY3" fmla="*/ 12961440 h 12961440"/>
                <a:gd name="connsiteX4" fmla="*/ 0 w 12961440"/>
                <a:gd name="connsiteY4" fmla="*/ 6480720 h 12961440"/>
                <a:gd name="connsiteX0" fmla="*/ 0 w 12961440"/>
                <a:gd name="connsiteY0" fmla="*/ 6480720 h 12961440"/>
                <a:gd name="connsiteX1" fmla="*/ 6480720 w 12961440"/>
                <a:gd name="connsiteY1" fmla="*/ 0 h 12961440"/>
                <a:gd name="connsiteX2" fmla="*/ 12961440 w 12961440"/>
                <a:gd name="connsiteY2" fmla="*/ 6480720 h 12961440"/>
                <a:gd name="connsiteX3" fmla="*/ 6480720 w 12961440"/>
                <a:gd name="connsiteY3" fmla="*/ 12961440 h 12961440"/>
                <a:gd name="connsiteX4" fmla="*/ 91440 w 12961440"/>
                <a:gd name="connsiteY4" fmla="*/ 6572160 h 12961440"/>
                <a:gd name="connsiteX0" fmla="*/ 0 w 12961440"/>
                <a:gd name="connsiteY0" fmla="*/ 6480720 h 12961440"/>
                <a:gd name="connsiteX1" fmla="*/ 6480720 w 12961440"/>
                <a:gd name="connsiteY1" fmla="*/ 0 h 12961440"/>
                <a:gd name="connsiteX2" fmla="*/ 12961440 w 12961440"/>
                <a:gd name="connsiteY2" fmla="*/ 6480720 h 12961440"/>
                <a:gd name="connsiteX3" fmla="*/ 6480720 w 12961440"/>
                <a:gd name="connsiteY3" fmla="*/ 12961440 h 12961440"/>
                <a:gd name="connsiteX0" fmla="*/ 0 w 12961440"/>
                <a:gd name="connsiteY0" fmla="*/ 6480720 h 6480720"/>
                <a:gd name="connsiteX1" fmla="*/ 6480720 w 12961440"/>
                <a:gd name="connsiteY1" fmla="*/ 0 h 6480720"/>
                <a:gd name="connsiteX2" fmla="*/ 12961440 w 12961440"/>
                <a:gd name="connsiteY2" fmla="*/ 6480720 h 6480720"/>
                <a:gd name="connsiteX0" fmla="*/ 0 w 6480720"/>
                <a:gd name="connsiteY0" fmla="*/ 6480720 h 6480720"/>
                <a:gd name="connsiteX1" fmla="*/ 6480720 w 6480720"/>
                <a:gd name="connsiteY1" fmla="*/ 0 h 648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480720" h="6480720">
                  <a:moveTo>
                    <a:pt x="0" y="6480720"/>
                  </a:moveTo>
                  <a:cubicBezTo>
                    <a:pt x="0" y="2901517"/>
                    <a:pt x="2901517" y="0"/>
                    <a:pt x="6480720" y="0"/>
                  </a:cubicBezTo>
                </a:path>
              </a:pathLst>
            </a:custGeom>
            <a:noFill/>
            <a:ln w="254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sz="2394"/>
            </a:p>
          </p:txBody>
        </p:sp>
        <p:sp>
          <p:nvSpPr>
            <p:cNvPr id="18" name="Ovál 10"/>
            <p:cNvSpPr/>
            <p:nvPr/>
          </p:nvSpPr>
          <p:spPr>
            <a:xfrm>
              <a:off x="9379028" y="4323149"/>
              <a:ext cx="4073088" cy="3240001"/>
            </a:xfrm>
            <a:custGeom>
              <a:avLst/>
              <a:gdLst>
                <a:gd name="connsiteX0" fmla="*/ 0 w 6480000"/>
                <a:gd name="connsiteY0" fmla="*/ 3240000 h 6480000"/>
                <a:gd name="connsiteX1" fmla="*/ 3240000 w 6480000"/>
                <a:gd name="connsiteY1" fmla="*/ 0 h 6480000"/>
                <a:gd name="connsiteX2" fmla="*/ 6480000 w 6480000"/>
                <a:gd name="connsiteY2" fmla="*/ 3240000 h 6480000"/>
                <a:gd name="connsiteX3" fmla="*/ 3240000 w 6480000"/>
                <a:gd name="connsiteY3" fmla="*/ 6480000 h 6480000"/>
                <a:gd name="connsiteX4" fmla="*/ 0 w 6480000"/>
                <a:gd name="connsiteY4" fmla="*/ 3240000 h 6480000"/>
                <a:gd name="connsiteX0" fmla="*/ 0 w 6480000"/>
                <a:gd name="connsiteY0" fmla="*/ 3240000 h 6480000"/>
                <a:gd name="connsiteX1" fmla="*/ 3240000 w 6480000"/>
                <a:gd name="connsiteY1" fmla="*/ 0 h 6480000"/>
                <a:gd name="connsiteX2" fmla="*/ 6480000 w 6480000"/>
                <a:gd name="connsiteY2" fmla="*/ 3240000 h 6480000"/>
                <a:gd name="connsiteX3" fmla="*/ 3240000 w 6480000"/>
                <a:gd name="connsiteY3" fmla="*/ 6480000 h 6480000"/>
                <a:gd name="connsiteX4" fmla="*/ 91440 w 6480000"/>
                <a:gd name="connsiteY4" fmla="*/ 3331440 h 6480000"/>
                <a:gd name="connsiteX0" fmla="*/ 0 w 6480000"/>
                <a:gd name="connsiteY0" fmla="*/ 3240000 h 6480000"/>
                <a:gd name="connsiteX1" fmla="*/ 3240000 w 6480000"/>
                <a:gd name="connsiteY1" fmla="*/ 0 h 6480000"/>
                <a:gd name="connsiteX2" fmla="*/ 6480000 w 6480000"/>
                <a:gd name="connsiteY2" fmla="*/ 3240000 h 6480000"/>
                <a:gd name="connsiteX3" fmla="*/ 3240000 w 6480000"/>
                <a:gd name="connsiteY3" fmla="*/ 6480000 h 6480000"/>
                <a:gd name="connsiteX0" fmla="*/ 0 w 6480000"/>
                <a:gd name="connsiteY0" fmla="*/ 3240000 h 3240000"/>
                <a:gd name="connsiteX1" fmla="*/ 3240000 w 6480000"/>
                <a:gd name="connsiteY1" fmla="*/ 0 h 3240000"/>
                <a:gd name="connsiteX2" fmla="*/ 6480000 w 6480000"/>
                <a:gd name="connsiteY2" fmla="*/ 3240000 h 3240000"/>
                <a:gd name="connsiteX0" fmla="*/ 0 w 3240000"/>
                <a:gd name="connsiteY0" fmla="*/ 3240000 h 3240000"/>
                <a:gd name="connsiteX1" fmla="*/ 3240000 w 3240000"/>
                <a:gd name="connsiteY1" fmla="*/ 0 h 32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240000" h="3240000">
                  <a:moveTo>
                    <a:pt x="0" y="3240000"/>
                  </a:moveTo>
                  <a:cubicBezTo>
                    <a:pt x="0" y="1450597"/>
                    <a:pt x="1450597" y="0"/>
                    <a:pt x="3240000" y="0"/>
                  </a:cubicBezTo>
                </a:path>
              </a:pathLst>
            </a:custGeom>
            <a:noFill/>
            <a:ln w="254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sz="2394"/>
            </a:p>
          </p:txBody>
        </p:sp>
        <p:sp>
          <p:nvSpPr>
            <p:cNvPr id="19" name="Ovál 11"/>
            <p:cNvSpPr/>
            <p:nvPr/>
          </p:nvSpPr>
          <p:spPr>
            <a:xfrm>
              <a:off x="7908191" y="3153149"/>
              <a:ext cx="5543925" cy="4410001"/>
            </a:xfrm>
            <a:custGeom>
              <a:avLst/>
              <a:gdLst>
                <a:gd name="connsiteX0" fmla="*/ 0 w 8820000"/>
                <a:gd name="connsiteY0" fmla="*/ 4410000 h 8820000"/>
                <a:gd name="connsiteX1" fmla="*/ 4410000 w 8820000"/>
                <a:gd name="connsiteY1" fmla="*/ 0 h 8820000"/>
                <a:gd name="connsiteX2" fmla="*/ 8820000 w 8820000"/>
                <a:gd name="connsiteY2" fmla="*/ 4410000 h 8820000"/>
                <a:gd name="connsiteX3" fmla="*/ 4410000 w 8820000"/>
                <a:gd name="connsiteY3" fmla="*/ 8820000 h 8820000"/>
                <a:gd name="connsiteX4" fmla="*/ 0 w 8820000"/>
                <a:gd name="connsiteY4" fmla="*/ 4410000 h 8820000"/>
                <a:gd name="connsiteX0" fmla="*/ 0 w 8820000"/>
                <a:gd name="connsiteY0" fmla="*/ 4410000 h 8820000"/>
                <a:gd name="connsiteX1" fmla="*/ 4410000 w 8820000"/>
                <a:gd name="connsiteY1" fmla="*/ 0 h 8820000"/>
                <a:gd name="connsiteX2" fmla="*/ 8820000 w 8820000"/>
                <a:gd name="connsiteY2" fmla="*/ 4410000 h 8820000"/>
                <a:gd name="connsiteX3" fmla="*/ 4410000 w 8820000"/>
                <a:gd name="connsiteY3" fmla="*/ 8820000 h 8820000"/>
                <a:gd name="connsiteX4" fmla="*/ 91440 w 8820000"/>
                <a:gd name="connsiteY4" fmla="*/ 4501440 h 8820000"/>
                <a:gd name="connsiteX0" fmla="*/ 0 w 8820000"/>
                <a:gd name="connsiteY0" fmla="*/ 4410000 h 8820000"/>
                <a:gd name="connsiteX1" fmla="*/ 4410000 w 8820000"/>
                <a:gd name="connsiteY1" fmla="*/ 0 h 8820000"/>
                <a:gd name="connsiteX2" fmla="*/ 8820000 w 8820000"/>
                <a:gd name="connsiteY2" fmla="*/ 4410000 h 8820000"/>
                <a:gd name="connsiteX3" fmla="*/ 4410000 w 8820000"/>
                <a:gd name="connsiteY3" fmla="*/ 8820000 h 8820000"/>
                <a:gd name="connsiteX0" fmla="*/ 0 w 8820000"/>
                <a:gd name="connsiteY0" fmla="*/ 4410000 h 4410000"/>
                <a:gd name="connsiteX1" fmla="*/ 4410000 w 8820000"/>
                <a:gd name="connsiteY1" fmla="*/ 0 h 4410000"/>
                <a:gd name="connsiteX2" fmla="*/ 8820000 w 8820000"/>
                <a:gd name="connsiteY2" fmla="*/ 4410000 h 4410000"/>
                <a:gd name="connsiteX0" fmla="*/ 0 w 4410000"/>
                <a:gd name="connsiteY0" fmla="*/ 4410000 h 4410000"/>
                <a:gd name="connsiteX1" fmla="*/ 4410000 w 4410000"/>
                <a:gd name="connsiteY1" fmla="*/ 0 h 44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410000" h="4410000">
                  <a:moveTo>
                    <a:pt x="0" y="4410000"/>
                  </a:moveTo>
                  <a:cubicBezTo>
                    <a:pt x="0" y="1974424"/>
                    <a:pt x="1974424" y="0"/>
                    <a:pt x="4410000" y="0"/>
                  </a:cubicBezTo>
                </a:path>
              </a:pathLst>
            </a:custGeom>
            <a:noFill/>
            <a:ln w="10160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sz="2394"/>
            </a:p>
          </p:txBody>
        </p:sp>
        <p:sp>
          <p:nvSpPr>
            <p:cNvPr id="20" name="Ovál 12"/>
            <p:cNvSpPr/>
            <p:nvPr/>
          </p:nvSpPr>
          <p:spPr>
            <a:xfrm>
              <a:off x="10963009" y="5583148"/>
              <a:ext cx="2489109" cy="1980001"/>
            </a:xfrm>
            <a:custGeom>
              <a:avLst/>
              <a:gdLst>
                <a:gd name="connsiteX0" fmla="*/ 0 w 3960000"/>
                <a:gd name="connsiteY0" fmla="*/ 1980000 h 3960000"/>
                <a:gd name="connsiteX1" fmla="*/ 1980000 w 3960000"/>
                <a:gd name="connsiteY1" fmla="*/ 0 h 3960000"/>
                <a:gd name="connsiteX2" fmla="*/ 3960000 w 3960000"/>
                <a:gd name="connsiteY2" fmla="*/ 1980000 h 3960000"/>
                <a:gd name="connsiteX3" fmla="*/ 1980000 w 3960000"/>
                <a:gd name="connsiteY3" fmla="*/ 3960000 h 3960000"/>
                <a:gd name="connsiteX4" fmla="*/ 0 w 3960000"/>
                <a:gd name="connsiteY4" fmla="*/ 1980000 h 3960000"/>
                <a:gd name="connsiteX0" fmla="*/ 0 w 3960000"/>
                <a:gd name="connsiteY0" fmla="*/ 1980000 h 3960000"/>
                <a:gd name="connsiteX1" fmla="*/ 1980000 w 3960000"/>
                <a:gd name="connsiteY1" fmla="*/ 0 h 3960000"/>
                <a:gd name="connsiteX2" fmla="*/ 3960000 w 3960000"/>
                <a:gd name="connsiteY2" fmla="*/ 1980000 h 3960000"/>
                <a:gd name="connsiteX3" fmla="*/ 1980000 w 3960000"/>
                <a:gd name="connsiteY3" fmla="*/ 3960000 h 3960000"/>
                <a:gd name="connsiteX4" fmla="*/ 91440 w 3960000"/>
                <a:gd name="connsiteY4" fmla="*/ 2071440 h 3960000"/>
                <a:gd name="connsiteX0" fmla="*/ 0 w 3960000"/>
                <a:gd name="connsiteY0" fmla="*/ 1980000 h 3960000"/>
                <a:gd name="connsiteX1" fmla="*/ 1980000 w 3960000"/>
                <a:gd name="connsiteY1" fmla="*/ 0 h 3960000"/>
                <a:gd name="connsiteX2" fmla="*/ 3960000 w 3960000"/>
                <a:gd name="connsiteY2" fmla="*/ 1980000 h 3960000"/>
                <a:gd name="connsiteX3" fmla="*/ 1980000 w 3960000"/>
                <a:gd name="connsiteY3" fmla="*/ 3960000 h 3960000"/>
                <a:gd name="connsiteX0" fmla="*/ 0 w 3960000"/>
                <a:gd name="connsiteY0" fmla="*/ 1980000 h 1980000"/>
                <a:gd name="connsiteX1" fmla="*/ 1980000 w 3960000"/>
                <a:gd name="connsiteY1" fmla="*/ 0 h 1980000"/>
                <a:gd name="connsiteX2" fmla="*/ 3960000 w 3960000"/>
                <a:gd name="connsiteY2" fmla="*/ 1980000 h 1980000"/>
                <a:gd name="connsiteX0" fmla="*/ 0 w 1980000"/>
                <a:gd name="connsiteY0" fmla="*/ 1980000 h 1980000"/>
                <a:gd name="connsiteX1" fmla="*/ 1980000 w 1980000"/>
                <a:gd name="connsiteY1" fmla="*/ 0 h 19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80000" h="1980000">
                  <a:moveTo>
                    <a:pt x="0" y="1980000"/>
                  </a:moveTo>
                  <a:cubicBezTo>
                    <a:pt x="0" y="886476"/>
                    <a:pt x="886476" y="0"/>
                    <a:pt x="1980000" y="0"/>
                  </a:cubicBezTo>
                </a:path>
              </a:pathLst>
            </a:custGeom>
            <a:noFill/>
            <a:ln w="10160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sz="2394"/>
            </a:p>
          </p:txBody>
        </p:sp>
        <p:sp>
          <p:nvSpPr>
            <p:cNvPr id="21" name="Ovál 11"/>
            <p:cNvSpPr/>
            <p:nvPr/>
          </p:nvSpPr>
          <p:spPr>
            <a:xfrm>
              <a:off x="12463960" y="6791032"/>
              <a:ext cx="973015" cy="774000"/>
            </a:xfrm>
            <a:custGeom>
              <a:avLst/>
              <a:gdLst>
                <a:gd name="connsiteX0" fmla="*/ 0 w 1548000"/>
                <a:gd name="connsiteY0" fmla="*/ 774000 h 1548000"/>
                <a:gd name="connsiteX1" fmla="*/ 774000 w 1548000"/>
                <a:gd name="connsiteY1" fmla="*/ 0 h 1548000"/>
                <a:gd name="connsiteX2" fmla="*/ 1548000 w 1548000"/>
                <a:gd name="connsiteY2" fmla="*/ 774000 h 1548000"/>
                <a:gd name="connsiteX3" fmla="*/ 774000 w 1548000"/>
                <a:gd name="connsiteY3" fmla="*/ 1548000 h 1548000"/>
                <a:gd name="connsiteX4" fmla="*/ 0 w 1548000"/>
                <a:gd name="connsiteY4" fmla="*/ 774000 h 1548000"/>
                <a:gd name="connsiteX0" fmla="*/ 0 w 1548000"/>
                <a:gd name="connsiteY0" fmla="*/ 774000 h 1548000"/>
                <a:gd name="connsiteX1" fmla="*/ 774000 w 1548000"/>
                <a:gd name="connsiteY1" fmla="*/ 0 h 1548000"/>
                <a:gd name="connsiteX2" fmla="*/ 1548000 w 1548000"/>
                <a:gd name="connsiteY2" fmla="*/ 774000 h 1548000"/>
                <a:gd name="connsiteX3" fmla="*/ 774000 w 1548000"/>
                <a:gd name="connsiteY3" fmla="*/ 1548000 h 1548000"/>
                <a:gd name="connsiteX4" fmla="*/ 91440 w 1548000"/>
                <a:gd name="connsiteY4" fmla="*/ 865440 h 1548000"/>
                <a:gd name="connsiteX0" fmla="*/ 0 w 1548000"/>
                <a:gd name="connsiteY0" fmla="*/ 774000 h 1548000"/>
                <a:gd name="connsiteX1" fmla="*/ 774000 w 1548000"/>
                <a:gd name="connsiteY1" fmla="*/ 0 h 1548000"/>
                <a:gd name="connsiteX2" fmla="*/ 1548000 w 1548000"/>
                <a:gd name="connsiteY2" fmla="*/ 774000 h 1548000"/>
                <a:gd name="connsiteX3" fmla="*/ 774000 w 1548000"/>
                <a:gd name="connsiteY3" fmla="*/ 1548000 h 1548000"/>
                <a:gd name="connsiteX0" fmla="*/ 0 w 1548000"/>
                <a:gd name="connsiteY0" fmla="*/ 774000 h 774000"/>
                <a:gd name="connsiteX1" fmla="*/ 774000 w 1548000"/>
                <a:gd name="connsiteY1" fmla="*/ 0 h 774000"/>
                <a:gd name="connsiteX2" fmla="*/ 1548000 w 1548000"/>
                <a:gd name="connsiteY2" fmla="*/ 774000 h 774000"/>
                <a:gd name="connsiteX0" fmla="*/ 0 w 774000"/>
                <a:gd name="connsiteY0" fmla="*/ 774000 h 774000"/>
                <a:gd name="connsiteX1" fmla="*/ 774000 w 774000"/>
                <a:gd name="connsiteY1" fmla="*/ 0 h 77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74000" h="774000">
                  <a:moveTo>
                    <a:pt x="0" y="774000"/>
                  </a:moveTo>
                  <a:cubicBezTo>
                    <a:pt x="0" y="346532"/>
                    <a:pt x="346532" y="0"/>
                    <a:pt x="774000" y="0"/>
                  </a:cubicBezTo>
                </a:path>
              </a:pathLst>
            </a:custGeom>
            <a:noFill/>
            <a:ln w="6985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sz="2394"/>
            </a:p>
          </p:txBody>
        </p:sp>
      </p:grpSp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020" y="555079"/>
            <a:ext cx="10515962" cy="104485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020" y="1665236"/>
            <a:ext cx="10515962" cy="45712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cs-CZ" dirty="0"/>
              <a:t>Kliknutím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9575918" y="6595641"/>
            <a:ext cx="1090133" cy="1959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8" b="0" spc="-91" baseline="0">
                <a:solidFill>
                  <a:srgbClr val="E3007A"/>
                </a:solidFill>
              </a:defRPr>
            </a:lvl1pPr>
          </a:lstStyle>
          <a:p>
            <a:fld id="{AD5148BA-E6EA-4621-B3E4-1BB2383F68E9}" type="datetime1">
              <a:rPr lang="en-GB" smtClean="0"/>
              <a:t>03/11/2025</a:t>
            </a:fld>
            <a:endParaRPr lang="en-GB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838021" y="6595641"/>
            <a:ext cx="8392904" cy="1959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8" b="0" spc="-91" baseline="0">
                <a:solidFill>
                  <a:srgbClr val="E3007A"/>
                </a:solidFill>
              </a:defRPr>
            </a:lvl1pPr>
          </a:lstStyle>
          <a:p>
            <a:r>
              <a:rPr lang="pt-BR"/>
              <a:t>6MMEM1Modelování v ekonomii a managementu</a:t>
            </a:r>
            <a:endParaRPr lang="en-GB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11779954" y="6595641"/>
            <a:ext cx="410451" cy="1959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8" b="0" spc="-91" baseline="0">
                <a:solidFill>
                  <a:srgbClr val="E3007A"/>
                </a:solidFill>
              </a:defRPr>
            </a:lvl1pPr>
          </a:lstStyle>
          <a:p>
            <a:fld id="{1AF8A189-F588-4B6F-8EF8-1BBABAA6D32E}" type="slidenum">
              <a:rPr lang="en-GB" smtClean="0"/>
              <a:t>‹#›</a:t>
            </a:fld>
            <a:endParaRPr lang="en-GB"/>
          </a:p>
        </p:txBody>
      </p:sp>
      <p:grpSp>
        <p:nvGrpSpPr>
          <p:cNvPr id="7" name="Skupina 6"/>
          <p:cNvGrpSpPr/>
          <p:nvPr/>
        </p:nvGrpSpPr>
        <p:grpSpPr>
          <a:xfrm>
            <a:off x="842340" y="0"/>
            <a:ext cx="1764941" cy="456938"/>
            <a:chOff x="2218059" y="-2452"/>
            <a:chExt cx="1946031" cy="503795"/>
          </a:xfrm>
        </p:grpSpPr>
        <p:sp>
          <p:nvSpPr>
            <p:cNvPr id="13" name="Zaoblený obdélník 12"/>
            <p:cNvSpPr/>
            <p:nvPr/>
          </p:nvSpPr>
          <p:spPr>
            <a:xfrm>
              <a:off x="2218059" y="26694"/>
              <a:ext cx="1946031" cy="396255"/>
            </a:xfrm>
            <a:prstGeom prst="roundRect">
              <a:avLst>
                <a:gd name="adj" fmla="val 26282"/>
              </a:avLst>
            </a:prstGeom>
            <a:solidFill>
              <a:srgbClr val="E300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sz="2394"/>
            </a:p>
          </p:txBody>
        </p:sp>
        <p:sp>
          <p:nvSpPr>
            <p:cNvPr id="14" name="Obdélník 13"/>
            <p:cNvSpPr/>
            <p:nvPr/>
          </p:nvSpPr>
          <p:spPr>
            <a:xfrm>
              <a:off x="2218059" y="-2452"/>
              <a:ext cx="1946031" cy="126000"/>
            </a:xfrm>
            <a:prstGeom prst="rect">
              <a:avLst/>
            </a:prstGeom>
            <a:solidFill>
              <a:srgbClr val="009E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sz="2394"/>
            </a:p>
          </p:txBody>
        </p:sp>
        <p:sp>
          <p:nvSpPr>
            <p:cNvPr id="15" name="TextovéPole 14"/>
            <p:cNvSpPr txBox="1"/>
            <p:nvPr/>
          </p:nvSpPr>
          <p:spPr>
            <a:xfrm>
              <a:off x="2240580" y="98143"/>
              <a:ext cx="1900986" cy="40320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cs-CZ" sz="1451" b="1" dirty="0">
                  <a:solidFill>
                    <a:schemeClr val="bg1"/>
                  </a:solidFill>
                </a:rPr>
                <a:t>fm.vse.cz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93616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84" r:id="rId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algn="l" defTabSz="1042499" rtl="0" eaLnBrk="1" latinLnBrk="0" hangingPunct="1">
        <a:lnSpc>
          <a:spcPct val="90000"/>
        </a:lnSpc>
        <a:spcBef>
          <a:spcPct val="0"/>
        </a:spcBef>
        <a:buNone/>
        <a:defRPr sz="3990" b="1" kern="1200" cap="all" spc="-114" baseline="0">
          <a:solidFill>
            <a:srgbClr val="E3007A"/>
          </a:solidFill>
          <a:latin typeface="+mn-lt"/>
          <a:ea typeface="+mj-ea"/>
          <a:cs typeface="+mj-cs"/>
        </a:defRPr>
      </a:lvl1pPr>
    </p:titleStyle>
    <p:bodyStyle>
      <a:lvl1pPr marL="300442" indent="-300442" algn="l" defTabSz="1042499" rtl="0" eaLnBrk="1" latinLnBrk="0" hangingPunct="1">
        <a:lnSpc>
          <a:spcPct val="100000"/>
        </a:lnSpc>
        <a:spcBef>
          <a:spcPts val="1140"/>
        </a:spcBef>
        <a:buClr>
          <a:srgbClr val="009FD6"/>
        </a:buClr>
        <a:buFont typeface="Arial" panose="020B0604020202020204" pitchFamily="34" charset="0"/>
        <a:buChar char="•"/>
        <a:defRPr sz="2721" b="1" kern="1200" spc="-114" baseline="0">
          <a:solidFill>
            <a:schemeClr val="tx1"/>
          </a:solidFill>
          <a:latin typeface="+mn-lt"/>
          <a:ea typeface="+mn-ea"/>
          <a:cs typeface="+mn-cs"/>
        </a:defRPr>
      </a:lvl1pPr>
      <a:lvl2pPr marL="613555" indent="-313112" algn="l" defTabSz="1042499" rtl="0" eaLnBrk="1" latinLnBrk="0" hangingPunct="1">
        <a:lnSpc>
          <a:spcPct val="100000"/>
        </a:lnSpc>
        <a:spcBef>
          <a:spcPts val="570"/>
        </a:spcBef>
        <a:buClr>
          <a:srgbClr val="009FD6"/>
        </a:buClr>
        <a:buFont typeface="Arial" panose="020B0604020202020204" pitchFamily="34" charset="0"/>
        <a:buChar char="•"/>
        <a:defRPr sz="2449" kern="1200" spc="-92" baseline="0">
          <a:solidFill>
            <a:schemeClr val="tx1"/>
          </a:solidFill>
          <a:latin typeface="+mn-lt"/>
          <a:ea typeface="+mn-ea"/>
          <a:cs typeface="+mn-cs"/>
        </a:defRPr>
      </a:lvl2pPr>
      <a:lvl3pPr marL="915807" indent="-302253" algn="l" defTabSz="1042499" rtl="0" eaLnBrk="1" latinLnBrk="0" hangingPunct="1">
        <a:lnSpc>
          <a:spcPct val="100000"/>
        </a:lnSpc>
        <a:spcBef>
          <a:spcPts val="570"/>
        </a:spcBef>
        <a:buClr>
          <a:srgbClr val="009FD6"/>
        </a:buClr>
        <a:buFont typeface="Arial" panose="020B0604020202020204" pitchFamily="34" charset="0"/>
        <a:buChar char="•"/>
        <a:defRPr sz="2177" kern="1200" spc="-68" baseline="0">
          <a:solidFill>
            <a:schemeClr val="tx1"/>
          </a:solidFill>
          <a:latin typeface="+mn-lt"/>
          <a:ea typeface="+mn-ea"/>
          <a:cs typeface="+mn-cs"/>
        </a:defRPr>
      </a:lvl3pPr>
      <a:lvl4pPr marL="1227108" indent="-311302" algn="l" defTabSz="1042499" rtl="0" eaLnBrk="1" latinLnBrk="0" hangingPunct="1">
        <a:lnSpc>
          <a:spcPct val="100000"/>
        </a:lnSpc>
        <a:spcBef>
          <a:spcPts val="570"/>
        </a:spcBef>
        <a:buClr>
          <a:srgbClr val="009FD6"/>
        </a:buClr>
        <a:buFont typeface="Arial" panose="020B0604020202020204" pitchFamily="34" charset="0"/>
        <a:buChar char="•"/>
        <a:defRPr sz="1904" kern="1200" spc="-45" baseline="0">
          <a:solidFill>
            <a:schemeClr val="tx1"/>
          </a:solidFill>
          <a:latin typeface="+mn-lt"/>
          <a:ea typeface="+mn-ea"/>
          <a:cs typeface="+mn-cs"/>
        </a:defRPr>
      </a:lvl4pPr>
      <a:lvl5pPr marL="1529361" indent="-302253" algn="l" defTabSz="1042499" rtl="0" eaLnBrk="1" latinLnBrk="0" hangingPunct="1">
        <a:lnSpc>
          <a:spcPct val="100000"/>
        </a:lnSpc>
        <a:spcBef>
          <a:spcPts val="570"/>
        </a:spcBef>
        <a:buClr>
          <a:srgbClr val="009FD6"/>
        </a:buClr>
        <a:buFont typeface="Arial" panose="020B0604020202020204" pitchFamily="34" charset="0"/>
        <a:buChar char="•"/>
        <a:defRPr sz="1632" kern="1200" spc="-45" baseline="0">
          <a:solidFill>
            <a:schemeClr val="tx1"/>
          </a:solidFill>
          <a:latin typeface="+mn-lt"/>
          <a:ea typeface="+mn-ea"/>
          <a:cs typeface="+mn-cs"/>
        </a:defRPr>
      </a:lvl5pPr>
      <a:lvl6pPr marL="2866871" indent="-260624" algn="l" defTabSz="1042499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2" kern="1200">
          <a:solidFill>
            <a:schemeClr val="tx1"/>
          </a:solidFill>
          <a:latin typeface="+mn-lt"/>
          <a:ea typeface="+mn-ea"/>
          <a:cs typeface="+mn-cs"/>
        </a:defRPr>
      </a:lvl6pPr>
      <a:lvl7pPr marL="3388121" indent="-260624" algn="l" defTabSz="1042499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2" kern="1200">
          <a:solidFill>
            <a:schemeClr val="tx1"/>
          </a:solidFill>
          <a:latin typeface="+mn-lt"/>
          <a:ea typeface="+mn-ea"/>
          <a:cs typeface="+mn-cs"/>
        </a:defRPr>
      </a:lvl7pPr>
      <a:lvl8pPr marL="3909369" indent="-260624" algn="l" defTabSz="1042499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2" kern="1200">
          <a:solidFill>
            <a:schemeClr val="tx1"/>
          </a:solidFill>
          <a:latin typeface="+mn-lt"/>
          <a:ea typeface="+mn-ea"/>
          <a:cs typeface="+mn-cs"/>
        </a:defRPr>
      </a:lvl8pPr>
      <a:lvl9pPr marL="4430619" indent="-260624" algn="l" defTabSz="1042499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1042499" rtl="0" eaLnBrk="1" latinLnBrk="0" hangingPunct="1">
        <a:defRPr sz="2052" kern="1200">
          <a:solidFill>
            <a:schemeClr val="tx1"/>
          </a:solidFill>
          <a:latin typeface="+mn-lt"/>
          <a:ea typeface="+mn-ea"/>
          <a:cs typeface="+mn-cs"/>
        </a:defRPr>
      </a:lvl1pPr>
      <a:lvl2pPr marL="521249" algn="l" defTabSz="1042499" rtl="0" eaLnBrk="1" latinLnBrk="0" hangingPunct="1">
        <a:defRPr sz="2052" kern="1200">
          <a:solidFill>
            <a:schemeClr val="tx1"/>
          </a:solidFill>
          <a:latin typeface="+mn-lt"/>
          <a:ea typeface="+mn-ea"/>
          <a:cs typeface="+mn-cs"/>
        </a:defRPr>
      </a:lvl2pPr>
      <a:lvl3pPr marL="1042499" algn="l" defTabSz="1042499" rtl="0" eaLnBrk="1" latinLnBrk="0" hangingPunct="1">
        <a:defRPr sz="2052" kern="1200">
          <a:solidFill>
            <a:schemeClr val="tx1"/>
          </a:solidFill>
          <a:latin typeface="+mn-lt"/>
          <a:ea typeface="+mn-ea"/>
          <a:cs typeface="+mn-cs"/>
        </a:defRPr>
      </a:lvl3pPr>
      <a:lvl4pPr marL="1563747" algn="l" defTabSz="1042499" rtl="0" eaLnBrk="1" latinLnBrk="0" hangingPunct="1">
        <a:defRPr sz="2052" kern="1200">
          <a:solidFill>
            <a:schemeClr val="tx1"/>
          </a:solidFill>
          <a:latin typeface="+mn-lt"/>
          <a:ea typeface="+mn-ea"/>
          <a:cs typeface="+mn-cs"/>
        </a:defRPr>
      </a:lvl4pPr>
      <a:lvl5pPr marL="2084997" algn="l" defTabSz="1042499" rtl="0" eaLnBrk="1" latinLnBrk="0" hangingPunct="1">
        <a:defRPr sz="2052" kern="1200">
          <a:solidFill>
            <a:schemeClr val="tx1"/>
          </a:solidFill>
          <a:latin typeface="+mn-lt"/>
          <a:ea typeface="+mn-ea"/>
          <a:cs typeface="+mn-cs"/>
        </a:defRPr>
      </a:lvl5pPr>
      <a:lvl6pPr marL="2606246" algn="l" defTabSz="1042499" rtl="0" eaLnBrk="1" latinLnBrk="0" hangingPunct="1">
        <a:defRPr sz="2052" kern="1200">
          <a:solidFill>
            <a:schemeClr val="tx1"/>
          </a:solidFill>
          <a:latin typeface="+mn-lt"/>
          <a:ea typeface="+mn-ea"/>
          <a:cs typeface="+mn-cs"/>
        </a:defRPr>
      </a:lvl6pPr>
      <a:lvl7pPr marL="3127495" algn="l" defTabSz="1042499" rtl="0" eaLnBrk="1" latinLnBrk="0" hangingPunct="1">
        <a:defRPr sz="2052" kern="1200">
          <a:solidFill>
            <a:schemeClr val="tx1"/>
          </a:solidFill>
          <a:latin typeface="+mn-lt"/>
          <a:ea typeface="+mn-ea"/>
          <a:cs typeface="+mn-cs"/>
        </a:defRPr>
      </a:lvl7pPr>
      <a:lvl8pPr marL="3648745" algn="l" defTabSz="1042499" rtl="0" eaLnBrk="1" latinLnBrk="0" hangingPunct="1">
        <a:defRPr sz="2052" kern="1200">
          <a:solidFill>
            <a:schemeClr val="tx1"/>
          </a:solidFill>
          <a:latin typeface="+mn-lt"/>
          <a:ea typeface="+mn-ea"/>
          <a:cs typeface="+mn-cs"/>
        </a:defRPr>
      </a:lvl8pPr>
      <a:lvl9pPr marL="4169994" algn="l" defTabSz="1042499" rtl="0" eaLnBrk="1" latinLnBrk="0" hangingPunct="1">
        <a:defRPr sz="20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Relationship Id="rId6" Type="http://schemas.microsoft.com/office/2007/relationships/hdphoto" Target="../media/hdphoto2.wdp"/><Relationship Id="rId5" Type="http://schemas.openxmlformats.org/officeDocument/2006/relationships/image" Target="../media/image12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csu.gov.cz/docs/107508/77e53226-9032-92bf-3e3a-db736ede6101/2701392101.pdf?version=1.0" TargetMode="External"/><Relationship Id="rId2" Type="http://schemas.openxmlformats.org/officeDocument/2006/relationships/hyperlink" Target="https://www.kurzy.cz/komodity/ryze-graf-vyvoje-ceny/historie-czk-1t" TargetMode="External"/><Relationship Id="rId1" Type="http://schemas.openxmlformats.org/officeDocument/2006/relationships/slideLayout" Target="../slideLayouts/slideLayout24.xml"/><Relationship Id="rId5" Type="http://schemas.openxmlformats.org/officeDocument/2006/relationships/hyperlink" Target="https://www.kurzy.cz/hodnoty/prumerna_mzda_CSU/2013/" TargetMode="External"/><Relationship Id="rId4" Type="http://schemas.openxmlformats.org/officeDocument/2006/relationships/hyperlink" Target="https://csu.gov.cz/vyvoj-prumernych-cen-vybranych-potravin-202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FCC7A8-7D32-33D4-8B39-7FABD87A74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GB" dirty="0"/>
            </a:br>
            <a:br>
              <a:rPr lang="en-GB" dirty="0"/>
            </a:br>
            <a:r>
              <a:rPr lang="en-GB" dirty="0"/>
              <a:t> </a:t>
            </a:r>
            <a:br>
              <a:rPr lang="en-GB" dirty="0"/>
            </a:br>
            <a:r>
              <a:rPr lang="en-GB" dirty="0"/>
              <a:t> </a:t>
            </a:r>
            <a:br>
              <a:rPr lang="en-GB" dirty="0"/>
            </a:br>
            <a:r>
              <a:rPr lang="en-GB" sz="4400" dirty="0"/>
              <a:t>SP1 - </a:t>
            </a:r>
            <a:r>
              <a:rPr lang="en-GB" sz="4400" b="1" dirty="0" err="1"/>
              <a:t>Optimalizační</a:t>
            </a:r>
            <a:r>
              <a:rPr lang="en-GB" sz="4400" b="1" dirty="0"/>
              <a:t> </a:t>
            </a:r>
            <a:r>
              <a:rPr lang="en-GB" sz="4400" b="1" dirty="0" err="1"/>
              <a:t>modely</a:t>
            </a:r>
            <a:r>
              <a:rPr lang="en-GB" sz="4400" b="1" dirty="0"/>
              <a:t> </a:t>
            </a:r>
            <a:br>
              <a:rPr lang="cs-CZ" sz="4400" b="1" dirty="0"/>
            </a:br>
            <a:r>
              <a:rPr lang="en-GB" sz="4400" b="1" dirty="0"/>
              <a:t>v </a:t>
            </a:r>
            <a:r>
              <a:rPr lang="en-GB" sz="4400" b="1" dirty="0" err="1"/>
              <a:t>mikroekonomii</a:t>
            </a:r>
            <a:r>
              <a:rPr lang="en-GB" sz="4400" b="1" dirty="0"/>
              <a:t> </a:t>
            </a:r>
            <a:br>
              <a:rPr lang="en-GB" dirty="0"/>
            </a:br>
            <a:r>
              <a:rPr lang="en-GB" b="1" dirty="0"/>
              <a:t> -</a:t>
            </a:r>
            <a:endParaRPr lang="en-GB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061F956-EE7C-1742-55A8-3439DB232E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endParaRPr lang="en-GB" sz="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ctr"/>
            <a:r>
              <a:rPr lang="en-GB" sz="4000" cap="all" spc="-228" dirty="0">
                <a:solidFill>
                  <a:srgbClr val="E3007A"/>
                </a:solidFill>
                <a:ea typeface="+mj-ea"/>
                <a:cs typeface="+mj-cs"/>
              </a:rPr>
              <a:t>S</a:t>
            </a:r>
            <a:r>
              <a:rPr lang="cs-CZ" sz="4000" cap="all" spc="-228" dirty="0">
                <a:solidFill>
                  <a:srgbClr val="E3007A"/>
                </a:solidFill>
                <a:ea typeface="+mj-ea"/>
                <a:cs typeface="+mj-cs"/>
              </a:rPr>
              <a:t>potřební</a:t>
            </a:r>
            <a:r>
              <a:rPr lang="en-GB" sz="4000" cap="all" spc="-228" dirty="0">
                <a:solidFill>
                  <a:srgbClr val="E3007A"/>
                </a:solidFill>
                <a:ea typeface="+mj-ea"/>
                <a:cs typeface="+mj-cs"/>
              </a:rPr>
              <a:t> </a:t>
            </a:r>
            <a:r>
              <a:rPr lang="cs-CZ" sz="4000" cap="all" spc="-228" dirty="0">
                <a:solidFill>
                  <a:srgbClr val="E3007A"/>
                </a:solidFill>
                <a:ea typeface="+mj-ea"/>
                <a:cs typeface="+mj-cs"/>
              </a:rPr>
              <a:t>modely</a:t>
            </a:r>
            <a:br>
              <a:rPr lang="cs-CZ" sz="4000" b="1" i="0" u="none" strike="noStrike" baseline="0" dirty="0">
                <a:latin typeface="Calibri" panose="020F0502020204030204" pitchFamily="34" charset="0"/>
              </a:rPr>
            </a:br>
            <a:endParaRPr lang="en-GB" sz="4000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CEDEB80-6B0A-D53E-BE41-73C9E5ADA3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pt-BR"/>
              <a:t>6MMEM1Modelování v ekonomii a managementu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7928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D6255A-B7E7-A85D-4DBB-C7E415F72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20" y="555079"/>
            <a:ext cx="10515962" cy="722987"/>
          </a:xfrm>
        </p:spPr>
        <p:txBody>
          <a:bodyPr>
            <a:normAutofit/>
          </a:bodyPr>
          <a:lstStyle/>
          <a:p>
            <a:r>
              <a:rPr lang="en-GB" sz="2800" b="1" dirty="0">
                <a:latin typeface="Calibri" panose="020F0502020204030204" pitchFamily="34" charset="0"/>
              </a:rPr>
              <a:t>SPOTŘEBNÍ KOŠ [</a:t>
            </a:r>
            <a:r>
              <a:rPr lang="en-GB" sz="2800" b="1" dirty="0" err="1">
                <a:latin typeface="Calibri" panose="020F0502020204030204" pitchFamily="34" charset="0"/>
              </a:rPr>
              <a:t>Brambory</a:t>
            </a:r>
            <a:r>
              <a:rPr lang="en-GB" sz="2800" b="1" dirty="0">
                <a:latin typeface="Calibri" panose="020F0502020204030204" pitchFamily="34" charset="0"/>
              </a:rPr>
              <a:t>, R</a:t>
            </a:r>
            <a:r>
              <a:rPr lang="cs-CZ" sz="2800" b="1" dirty="0">
                <a:latin typeface="Calibri" panose="020F0502020204030204" pitchFamily="34" charset="0"/>
              </a:rPr>
              <a:t>ýže</a:t>
            </a:r>
            <a:r>
              <a:rPr lang="en-GB" sz="2800" b="1" dirty="0">
                <a:latin typeface="Calibri" panose="020F0502020204030204" pitchFamily="34" charset="0"/>
              </a:rPr>
              <a:t>] – Data - SPOTŘEBNÍ MODELY</a:t>
            </a:r>
            <a:endParaRPr lang="en-GB" sz="2800" dirty="0"/>
          </a:p>
        </p:txBody>
      </p:sp>
      <p:sp>
        <p:nvSpPr>
          <p:cNvPr id="18" name="頁尾版面配置區 17">
            <a:extLst>
              <a:ext uri="{FF2B5EF4-FFF2-40B4-BE49-F238E27FC236}">
                <a16:creationId xmlns:a16="http://schemas.microsoft.com/office/drawing/2014/main" id="{E6E6B569-0F06-7020-964C-2A018A550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59287" y="6595641"/>
            <a:ext cx="8392904" cy="195910"/>
          </a:xfrm>
        </p:spPr>
        <p:txBody>
          <a:bodyPr/>
          <a:lstStyle/>
          <a:p>
            <a:r>
              <a:rPr lang="pt-BR"/>
              <a:t>6MMEM1Modelování v ekonomii a managementu</a:t>
            </a:r>
            <a:endParaRPr lang="en-GB"/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23D4B7D7-BACF-C501-06A0-0DBAA13C7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9466" y="5081812"/>
            <a:ext cx="7600950" cy="1323975"/>
          </a:xfrm>
          <a:prstGeom prst="rect">
            <a:avLst/>
          </a:prstGeom>
        </p:spPr>
      </p:pic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1552579"/>
              </p:ext>
            </p:extLst>
          </p:nvPr>
        </p:nvGraphicFramePr>
        <p:xfrm>
          <a:off x="1659466" y="1326622"/>
          <a:ext cx="8343900" cy="3550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092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3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24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02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51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27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57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6391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052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 err="1">
                          <a:effectLst/>
                        </a:rPr>
                        <a:t>Rok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ctr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>
                          <a:effectLst/>
                        </a:rPr>
                        <a:t>Brambory CZK/kg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>
                          <a:effectLst/>
                        </a:rPr>
                        <a:t>Rýže CZK/kg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>
                          <a:effectLst/>
                        </a:rPr>
                        <a:t>rozpočet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>
                          <a:effectLst/>
                        </a:rPr>
                        <a:t>S</a:t>
                      </a:r>
                      <a:r>
                        <a:rPr lang="en-GB" sz="1200" u="none" strike="noStrike" baseline="-25000">
                          <a:effectLst/>
                        </a:rPr>
                        <a:t>1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>
                          <a:effectLst/>
                        </a:rPr>
                        <a:t>S</a:t>
                      </a:r>
                      <a:r>
                        <a:rPr lang="en-GB" sz="1200" u="none" strike="noStrike" baseline="-25000">
                          <a:effectLst/>
                        </a:rPr>
                        <a:t>2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42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cena</a:t>
                      </a:r>
                      <a:r>
                        <a:rPr lang="en-GB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(</a:t>
                      </a:r>
                      <a:r>
                        <a:rPr lang="en-GB" sz="12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p</a:t>
                      </a:r>
                      <a:r>
                        <a:rPr lang="en-GB" sz="1200" u="none" strike="noStrike" baseline="-25000" dirty="0" err="1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r>
                        <a:rPr lang="en-GB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)</a:t>
                      </a:r>
                      <a:endParaRPr lang="en-GB" sz="1200" b="1" i="0" u="none" strike="noStrike" dirty="0">
                        <a:solidFill>
                          <a:srgbClr val="FF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>
                          <a:effectLst/>
                        </a:rPr>
                        <a:t>spotřeba (x)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cena</a:t>
                      </a:r>
                      <a:r>
                        <a:rPr lang="en-GB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(</a:t>
                      </a:r>
                      <a:r>
                        <a:rPr lang="en-GB" sz="12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p</a:t>
                      </a:r>
                      <a:r>
                        <a:rPr lang="en-GB" sz="1200" u="none" strike="noStrike" baseline="-25000" dirty="0" err="1">
                          <a:solidFill>
                            <a:srgbClr val="FF0000"/>
                          </a:solidFill>
                          <a:effectLst/>
                        </a:rPr>
                        <a:t>y</a:t>
                      </a:r>
                      <a:r>
                        <a:rPr lang="en-GB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)</a:t>
                      </a:r>
                      <a:endParaRPr lang="en-GB" sz="1200" b="1" i="0" u="none" strike="noStrike" dirty="0">
                        <a:solidFill>
                          <a:srgbClr val="FF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>
                          <a:effectLst/>
                        </a:rPr>
                        <a:t>spotřeba (y)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(I)</a:t>
                      </a:r>
                      <a:endParaRPr lang="en-GB" sz="1200" b="1" i="0" u="none" strike="noStrike" dirty="0">
                        <a:solidFill>
                          <a:srgbClr val="FF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α</a:t>
                      </a:r>
                      <a:endParaRPr lang="el-GR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1 - α</a:t>
                      </a:r>
                      <a:endParaRPr lang="el-GR" sz="1200" b="0" i="0" u="none" strike="noStrike" dirty="0">
                        <a:solidFill>
                          <a:srgbClr val="FF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200" u="none" strike="noStrike">
                          <a:effectLst/>
                        </a:rPr>
                        <a:t>2011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10.5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70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40.30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6.11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981.12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0.7491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0.2509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200" u="none" strike="noStrike">
                          <a:effectLst/>
                        </a:rPr>
                        <a:t>2012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11.2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68.6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40.90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5.15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979.04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0.7848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0.2152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200" u="none" strike="noStrike">
                          <a:effectLst/>
                        </a:rPr>
                        <a:t>2013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8.9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68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41.30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4.94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809.22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0.7479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0.2521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200" u="none" strike="noStrike">
                          <a:effectLst/>
                        </a:rPr>
                        <a:t>2014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11.4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70.1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41.80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5.09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1011.87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0.7898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0.2102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200" u="none" strike="noStrike">
                          <a:effectLst/>
                        </a:rPr>
                        <a:t>2015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11.2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66.3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42.60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 dirty="0">
                          <a:effectLst/>
                        </a:rPr>
                        <a:t>5.00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955.53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0.7771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0.2229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200" u="none" strike="noStrike">
                          <a:effectLst/>
                        </a:rPr>
                        <a:t>2016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10.5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69.1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43.10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5.39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957.69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0.7576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0.2424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200" u="none" strike="noStrike">
                          <a:effectLst/>
                        </a:rPr>
                        <a:t>2017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10.8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68.5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43.90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5.67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988.63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0.7483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0.2517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200" u="none" strike="noStrike">
                          <a:effectLst/>
                        </a:rPr>
                        <a:t>2018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13.6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67.7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44.70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5.96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1187.11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0.7756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0.2244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200" u="none" strike="noStrike">
                          <a:effectLst/>
                        </a:rPr>
                        <a:t>2019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14.3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69.5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45.80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5.75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1257.33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0.7904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0.2096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200" u="none" strike="noStrike">
                          <a:effectLst/>
                        </a:rPr>
                        <a:t>2020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13.5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65.1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46.20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5.29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1123.32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0.7824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0.2176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>
                          <a:effectLst/>
                        </a:rPr>
                        <a:t>suma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115.9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 dirty="0">
                          <a:effectLst/>
                        </a:rPr>
                        <a:t>682.9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430.60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54.3461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10250.87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7.7030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>
                          <a:effectLst/>
                        </a:rPr>
                        <a:t>2.2970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průměr</a:t>
                      </a:r>
                      <a:endParaRPr lang="en-GB" sz="1600" b="1" i="0" u="none" strike="noStrike" dirty="0">
                        <a:solidFill>
                          <a:srgbClr val="FF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11.59</a:t>
                      </a:r>
                      <a:endParaRPr lang="en-US" altLang="zh-TW" sz="1600" b="1" i="0" u="none" strike="noStrike" dirty="0">
                        <a:solidFill>
                          <a:srgbClr val="FF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68.29</a:t>
                      </a:r>
                      <a:endParaRPr lang="en-US" altLang="zh-TW" sz="1200" b="0" i="0" u="none" strike="noStrike" dirty="0">
                        <a:solidFill>
                          <a:schemeClr val="tx1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43.06</a:t>
                      </a:r>
                      <a:endParaRPr lang="en-US" altLang="zh-TW" sz="1600" b="1" i="0" u="none" strike="noStrike" dirty="0">
                        <a:solidFill>
                          <a:srgbClr val="FF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200" u="none" strike="noStrike" dirty="0">
                          <a:solidFill>
                            <a:schemeClr val="tx1"/>
                          </a:solidFill>
                          <a:effectLst/>
                        </a:rPr>
                        <a:t>5.43</a:t>
                      </a:r>
                      <a:endParaRPr lang="en-US" altLang="zh-TW" sz="1200" b="1" i="0" u="none" strike="noStrike" dirty="0">
                        <a:solidFill>
                          <a:schemeClr val="tx1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1025.09</a:t>
                      </a:r>
                      <a:endParaRPr lang="en-US" altLang="zh-TW" sz="1600" b="1" i="0" u="none" strike="noStrike" dirty="0">
                        <a:solidFill>
                          <a:srgbClr val="FF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0.7703</a:t>
                      </a:r>
                      <a:endParaRPr lang="en-US" altLang="zh-TW" sz="1600" b="1" i="0" u="none" strike="noStrike" dirty="0">
                        <a:solidFill>
                          <a:srgbClr val="FF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0.2297</a:t>
                      </a:r>
                      <a:endParaRPr lang="en-US" altLang="zh-TW" sz="1600" b="1" i="0" u="none" strike="noStrike" dirty="0">
                        <a:solidFill>
                          <a:srgbClr val="FF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1512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F989F8-72F2-73C0-B106-A40E07373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4095"/>
          </a:xfrm>
        </p:spPr>
        <p:txBody>
          <a:bodyPr/>
          <a:lstStyle/>
          <a:p>
            <a:r>
              <a:rPr lang="en-GB" sz="2800" b="1" dirty="0" err="1">
                <a:latin typeface="Calibri" panose="020F0502020204030204" pitchFamily="34" charset="0"/>
              </a:rPr>
              <a:t>Užitková</a:t>
            </a:r>
            <a:r>
              <a:rPr lang="en-GB" sz="2800" b="1" dirty="0">
                <a:latin typeface="Calibri" panose="020F0502020204030204" pitchFamily="34" charset="0"/>
              </a:rPr>
              <a:t> </a:t>
            </a:r>
            <a:r>
              <a:rPr lang="en-GB" sz="2800" b="1" dirty="0" err="1">
                <a:latin typeface="Calibri" panose="020F0502020204030204" pitchFamily="34" charset="0"/>
              </a:rPr>
              <a:t>funkce</a:t>
            </a:r>
            <a:endParaRPr lang="en-GB" sz="2800" b="1" dirty="0">
              <a:latin typeface="Calibri" panose="020F050202020403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44AC98D-E262-237D-106A-2F35911D3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9640" y="1475105"/>
            <a:ext cx="10515600" cy="4351338"/>
          </a:xfrm>
        </p:spPr>
        <p:txBody>
          <a:bodyPr lIns="0"/>
          <a:lstStyle/>
          <a:p>
            <a:pPr algn="l"/>
            <a:endParaRPr lang="en-GB" sz="11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GB" b="1" dirty="0">
                <a:latin typeface="Calibri" panose="020F0502020204030204" pitchFamily="34" charset="0"/>
              </a:rPr>
              <a:t>SPOTŘEBNÍ KOŠ [</a:t>
            </a:r>
            <a:r>
              <a:rPr lang="en-GB" b="1" dirty="0" err="1">
                <a:latin typeface="Calibri" panose="020F0502020204030204" pitchFamily="34" charset="0"/>
              </a:rPr>
              <a:t>Brambory</a:t>
            </a:r>
            <a:r>
              <a:rPr lang="en-GB" b="1" dirty="0">
                <a:latin typeface="Calibri" panose="020F0502020204030204" pitchFamily="34" charset="0"/>
              </a:rPr>
              <a:t>, R</a:t>
            </a:r>
            <a:r>
              <a:rPr lang="cs-CZ" b="1" dirty="0">
                <a:latin typeface="Calibri" panose="020F0502020204030204" pitchFamily="34" charset="0"/>
              </a:rPr>
              <a:t>ýže</a:t>
            </a:r>
            <a:r>
              <a:rPr lang="en-GB" b="1" dirty="0">
                <a:latin typeface="Calibri" panose="020F0502020204030204" pitchFamily="34" charset="0"/>
              </a:rPr>
              <a:t>]</a:t>
            </a:r>
            <a:endParaRPr lang="en-GB" sz="2800" b="0" i="0" u="none" strike="noStrike" baseline="0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2800" b="0" i="1" u="none" strike="noStrike" baseline="0" dirty="0">
                <a:latin typeface="Calibri" panose="020F0502020204030204" pitchFamily="34" charset="0"/>
              </a:rPr>
              <a:t>u</a:t>
            </a:r>
            <a:r>
              <a:rPr lang="en-GB" sz="2800" b="0" i="0" u="none" strike="noStrike" baseline="0" dirty="0">
                <a:latin typeface="Calibri" panose="020F0502020204030204" pitchFamily="34" charset="0"/>
              </a:rPr>
              <a:t>(</a:t>
            </a:r>
            <a:r>
              <a:rPr lang="en-GB" sz="2400" dirty="0" err="1">
                <a:latin typeface="Calibri" panose="020F0502020204030204" pitchFamily="34" charset="0"/>
              </a:rPr>
              <a:t>Brambory</a:t>
            </a:r>
            <a:r>
              <a:rPr lang="en-GB" sz="2400" dirty="0">
                <a:latin typeface="Calibri" panose="020F0502020204030204" pitchFamily="34" charset="0"/>
              </a:rPr>
              <a:t>, R</a:t>
            </a:r>
            <a:r>
              <a:rPr lang="cs-CZ" sz="2400" dirty="0">
                <a:latin typeface="Calibri" panose="020F0502020204030204" pitchFamily="34" charset="0"/>
              </a:rPr>
              <a:t>ýže</a:t>
            </a:r>
            <a:r>
              <a:rPr lang="en-GB" sz="2800" b="0" i="0" u="none" strike="noStrike" baseline="0" dirty="0">
                <a:latin typeface="Calibri" panose="020F0502020204030204" pitchFamily="34" charset="0"/>
              </a:rPr>
              <a:t>) = </a:t>
            </a:r>
            <a:r>
              <a:rPr lang="en-GB" dirty="0" err="1">
                <a:latin typeface="Calibri" panose="020F0502020204030204" pitchFamily="34" charset="0"/>
              </a:rPr>
              <a:t>Brambory</a:t>
            </a:r>
            <a:r>
              <a:rPr lang="cs-CZ" dirty="0">
                <a:latin typeface="Calibri" panose="020F0502020204030204" pitchFamily="34" charset="0"/>
              </a:rPr>
              <a:t> 0,7703 </a:t>
            </a:r>
            <a:r>
              <a:rPr lang="en-GB" dirty="0">
                <a:latin typeface="Calibri" panose="020F0502020204030204" pitchFamily="34" charset="0"/>
              </a:rPr>
              <a:t>, R</a:t>
            </a:r>
            <a:r>
              <a:rPr lang="cs-CZ" dirty="0">
                <a:latin typeface="Calibri" panose="020F0502020204030204" pitchFamily="34" charset="0"/>
              </a:rPr>
              <a:t>ýže 0,2297</a:t>
            </a:r>
            <a:endParaRPr lang="en-GB" sz="1800" b="0" i="0" u="none" strike="noStrike" baseline="0" dirty="0"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s-ES" sz="2800" b="1" i="1" u="none" strike="noStrike" baseline="0" dirty="0">
                <a:latin typeface="Calibri" panose="020F0502020204030204" pitchFamily="34" charset="0"/>
              </a:rPr>
              <a:t>u</a:t>
            </a:r>
            <a:r>
              <a:rPr lang="es-ES" sz="2800" b="1" i="0" u="none" strike="noStrike" baseline="0" dirty="0">
                <a:latin typeface="Calibri" panose="020F0502020204030204" pitchFamily="34" charset="0"/>
              </a:rPr>
              <a:t>(</a:t>
            </a:r>
            <a:r>
              <a:rPr lang="es-ES" sz="2800" b="1" i="1" u="none" strike="noStrike" baseline="0" dirty="0">
                <a:latin typeface="Calibri" panose="020F0502020204030204" pitchFamily="34" charset="0"/>
              </a:rPr>
              <a:t>x, y</a:t>
            </a:r>
            <a:r>
              <a:rPr lang="es-ES" sz="2800" b="1" i="0" u="none" strike="noStrike" baseline="0" dirty="0">
                <a:latin typeface="Calibri" panose="020F0502020204030204" pitchFamily="34" charset="0"/>
              </a:rPr>
              <a:t>) = </a:t>
            </a:r>
            <a:r>
              <a:rPr lang="es-ES" sz="3600" b="1" i="1" u="none" strike="noStrike" baseline="0" dirty="0">
                <a:latin typeface="Calibri" panose="020F0502020204030204" pitchFamily="34" charset="0"/>
              </a:rPr>
              <a:t>x</a:t>
            </a:r>
            <a:r>
              <a:rPr lang="cs-CZ" sz="3600" dirty="0">
                <a:latin typeface="Calibri" panose="020F0502020204030204" pitchFamily="34" charset="0"/>
              </a:rPr>
              <a:t> </a:t>
            </a:r>
            <a:r>
              <a:rPr lang="cs-CZ" sz="3600" baseline="30000" dirty="0">
                <a:latin typeface="Calibri" panose="020F0502020204030204" pitchFamily="34" charset="0"/>
              </a:rPr>
              <a:t>0,7703</a:t>
            </a:r>
            <a:r>
              <a:rPr lang="cs-CZ" sz="3600" dirty="0">
                <a:latin typeface="Calibri" panose="020F0502020204030204" pitchFamily="34" charset="0"/>
              </a:rPr>
              <a:t> </a:t>
            </a:r>
            <a:r>
              <a:rPr lang="es-ES" sz="3600" b="0" i="0" u="none" strike="noStrike" baseline="0" dirty="0">
                <a:latin typeface="Cambria Math" panose="02040503050406030204" pitchFamily="18" charset="0"/>
              </a:rPr>
              <a:t>∙</a:t>
            </a:r>
            <a:r>
              <a:rPr lang="es-ES" sz="3600" b="1" i="1" u="none" strike="noStrike" baseline="0" dirty="0">
                <a:latin typeface="Calibri" panose="020F0502020204030204" pitchFamily="34" charset="0"/>
              </a:rPr>
              <a:t>y</a:t>
            </a:r>
            <a:r>
              <a:rPr lang="cs-CZ" sz="3600" dirty="0">
                <a:latin typeface="Calibri" panose="020F0502020204030204" pitchFamily="34" charset="0"/>
              </a:rPr>
              <a:t> </a:t>
            </a:r>
            <a:r>
              <a:rPr lang="cs-CZ" sz="3600" baseline="30000" dirty="0">
                <a:latin typeface="Calibri" panose="020F0502020204030204" pitchFamily="34" charset="0"/>
              </a:rPr>
              <a:t>0,2297</a:t>
            </a:r>
            <a:endParaRPr lang="es-ES" sz="3600" b="0" i="0" u="none" strike="noStrike" baseline="30000" dirty="0">
              <a:latin typeface="Calibri" panose="020F0502020204030204" pitchFamily="34" charset="0"/>
            </a:endParaRPr>
          </a:p>
          <a:p>
            <a:endParaRPr lang="en-GB" dirty="0"/>
          </a:p>
        </p:txBody>
      </p:sp>
      <p:sp>
        <p:nvSpPr>
          <p:cNvPr id="9" name="頁尾版面配置區 8">
            <a:extLst>
              <a:ext uri="{FF2B5EF4-FFF2-40B4-BE49-F238E27FC236}">
                <a16:creationId xmlns:a16="http://schemas.microsoft.com/office/drawing/2014/main" id="{58433EE9-49DE-BFFC-701E-34C9A1EAD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6MMEM1Modelování v ekonomii a managementu</a:t>
            </a:r>
            <a:endParaRPr lang="en-GB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FB84AA1-E393-EC5D-FC06-33A4159C0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2771948"/>
            <a:ext cx="7330440" cy="3780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898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CF2329-3D97-2981-FBED-D6DB21577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b="1" dirty="0" err="1">
                <a:latin typeface="Calibri" panose="020F0502020204030204" pitchFamily="34" charset="0"/>
              </a:rPr>
              <a:t>Rozpočtové</a:t>
            </a:r>
            <a:r>
              <a:rPr lang="en-GB" sz="2800" b="1" dirty="0">
                <a:latin typeface="Calibri" panose="020F0502020204030204" pitchFamily="34" charset="0"/>
              </a:rPr>
              <a:t> </a:t>
            </a:r>
            <a:r>
              <a:rPr lang="en-GB" sz="2800" b="1" dirty="0" err="1">
                <a:latin typeface="Calibri" panose="020F0502020204030204" pitchFamily="34" charset="0"/>
              </a:rPr>
              <a:t>omezení</a:t>
            </a:r>
            <a:endParaRPr lang="en-GB" sz="2800" b="1" dirty="0">
              <a:latin typeface="Calibri" panose="020F0502020204030204" pitchFamily="34" charset="0"/>
            </a:endParaRPr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E4FD5D11-4CCC-12A9-823F-B66DEA70E4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104607" y="1477837"/>
            <a:ext cx="6619602" cy="5380163"/>
          </a:xfrm>
          <a:prstGeom prst="rect">
            <a:avLst/>
          </a:prstGeom>
        </p:spPr>
      </p:pic>
      <p:sp>
        <p:nvSpPr>
          <p:cNvPr id="12" name="頁尾版面配置區 11">
            <a:extLst>
              <a:ext uri="{FF2B5EF4-FFF2-40B4-BE49-F238E27FC236}">
                <a16:creationId xmlns:a16="http://schemas.microsoft.com/office/drawing/2014/main" id="{C461EF88-18AF-2EE4-ACC9-7D94F12D1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6MMEM1Modelování v ekonomii a managementu</a:t>
            </a:r>
            <a:endParaRPr lang="en-GB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BF60AB3F-F6FB-7D3E-05AC-3FDA2783DD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859" t="1" r="5843" b="1748"/>
          <a:stretch>
            <a:fillRect/>
          </a:stretch>
        </p:blipFill>
        <p:spPr>
          <a:xfrm>
            <a:off x="4791892" y="1877303"/>
            <a:ext cx="3756660" cy="42767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1111749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118034-3F2F-4146-9FB8-7970A6D39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5975"/>
          </a:xfrm>
        </p:spPr>
        <p:txBody>
          <a:bodyPr/>
          <a:lstStyle/>
          <a:p>
            <a:r>
              <a:rPr lang="en-GB" sz="2800" b="1" dirty="0" err="1">
                <a:latin typeface="Calibri" panose="020F0502020204030204" pitchFamily="34" charset="0"/>
              </a:rPr>
              <a:t>Lagrangeova</a:t>
            </a:r>
            <a:r>
              <a:rPr lang="en-GB" sz="2800" b="1" dirty="0">
                <a:latin typeface="Calibri" panose="020F0502020204030204" pitchFamily="34" charset="0"/>
              </a:rPr>
              <a:t> </a:t>
            </a:r>
            <a:r>
              <a:rPr lang="en-GB" sz="2800" b="1" dirty="0" err="1">
                <a:latin typeface="Calibri" panose="020F0502020204030204" pitchFamily="34" charset="0"/>
              </a:rPr>
              <a:t>funkce</a:t>
            </a:r>
            <a:r>
              <a:rPr lang="en-GB" sz="2800" b="1" dirty="0">
                <a:latin typeface="Calibri" panose="020F0502020204030204" pitchFamily="34" charset="0"/>
              </a:rPr>
              <a:t> _</a:t>
            </a:r>
            <a:r>
              <a:rPr lang="en-GB" sz="2800" b="1" dirty="0" err="1">
                <a:latin typeface="Calibri" panose="020F0502020204030204" pitchFamily="34" charset="0"/>
              </a:rPr>
              <a:t>Wolfarm</a:t>
            </a:r>
            <a:endParaRPr lang="en-GB" sz="2800" b="1" dirty="0">
              <a:latin typeface="Calibri" panose="020F0502020204030204" pitchFamily="34" charset="0"/>
            </a:endParaRPr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6AD1ADA5-62E7-BD98-AC13-51CB03BDD7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319371"/>
            <a:ext cx="5789150" cy="387509"/>
          </a:xfrm>
          <a:prstGeom prst="rect">
            <a:avLst/>
          </a:prstGeom>
        </p:spPr>
      </p:pic>
      <p:sp>
        <p:nvSpPr>
          <p:cNvPr id="21" name="頁尾版面配置區 20">
            <a:extLst>
              <a:ext uri="{FF2B5EF4-FFF2-40B4-BE49-F238E27FC236}">
                <a16:creationId xmlns:a16="http://schemas.microsoft.com/office/drawing/2014/main" id="{A81924AA-0AB5-EEC9-0EC2-FA809DE1C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492875"/>
            <a:ext cx="4114800" cy="365125"/>
          </a:xfrm>
        </p:spPr>
        <p:txBody>
          <a:bodyPr/>
          <a:lstStyle/>
          <a:p>
            <a:r>
              <a:rPr lang="pt-BR" dirty="0"/>
              <a:t>6MMEM1Modelování v ekonomii a managementu</a:t>
            </a:r>
            <a:endParaRPr lang="en-GB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C5A48272-CB5B-F7EE-865B-70F5CBAF0F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0147" y="2627063"/>
            <a:ext cx="4800600" cy="3352800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92838E68-5C7D-936F-E676-9EB6C42D9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127" y="6115444"/>
            <a:ext cx="7972425" cy="695325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B4FD6A21-B40E-A2BA-15EC-B7E0992BA9B7}"/>
              </a:ext>
            </a:extLst>
          </p:cNvPr>
          <p:cNvSpPr txBox="1"/>
          <p:nvPr/>
        </p:nvSpPr>
        <p:spPr>
          <a:xfrm>
            <a:off x="838200" y="184515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L = x^0.77*y^0.23 + lambda*(1025.08 - 11.59*x - 43.06*y); </a:t>
            </a:r>
            <a:r>
              <a:rPr lang="es-ES" dirty="0" err="1"/>
              <a:t>solve</a:t>
            </a:r>
            <a:r>
              <a:rPr lang="es-ES" dirty="0"/>
              <a:t> {D[</a:t>
            </a:r>
            <a:r>
              <a:rPr lang="es-ES" dirty="0" err="1"/>
              <a:t>L,x</a:t>
            </a:r>
            <a:r>
              <a:rPr lang="es-ES" dirty="0"/>
              <a:t>]=0, D[</a:t>
            </a:r>
            <a:r>
              <a:rPr lang="es-ES" dirty="0" err="1"/>
              <a:t>L,y</a:t>
            </a:r>
            <a:r>
              <a:rPr lang="es-ES" dirty="0"/>
              <a:t>]=0, D[</a:t>
            </a:r>
            <a:r>
              <a:rPr lang="es-ES" dirty="0" err="1"/>
              <a:t>L,lambda</a:t>
            </a:r>
            <a:r>
              <a:rPr lang="es-ES" dirty="0"/>
              <a:t>]=0}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x,y,lambda</a:t>
            </a:r>
            <a:endParaRPr lang="en-GB" dirty="0"/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5E9527F9-DA24-99B2-C5E0-79F5A55992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854" y="365126"/>
            <a:ext cx="5664176" cy="5614738"/>
          </a:xfrm>
          <a:prstGeom prst="rect">
            <a:avLst/>
          </a:prstGeom>
        </p:spPr>
      </p:pic>
      <p:sp>
        <p:nvSpPr>
          <p:cNvPr id="20" name="橢圓 19">
            <a:extLst>
              <a:ext uri="{FF2B5EF4-FFF2-40B4-BE49-F238E27FC236}">
                <a16:creationId xmlns:a16="http://schemas.microsoft.com/office/drawing/2014/main" id="{08F91402-BEB5-24E1-0C86-0EC17D80BBF1}"/>
              </a:ext>
            </a:extLst>
          </p:cNvPr>
          <p:cNvSpPr/>
          <p:nvPr/>
        </p:nvSpPr>
        <p:spPr>
          <a:xfrm>
            <a:off x="2278380" y="3710940"/>
            <a:ext cx="1371600" cy="1402080"/>
          </a:xfrm>
          <a:prstGeom prst="ellipse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026021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BE3ABE-07E1-22A2-3827-F086BE076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41166"/>
            <a:ext cx="10515600" cy="846297"/>
          </a:xfrm>
        </p:spPr>
        <p:txBody>
          <a:bodyPr/>
          <a:lstStyle/>
          <a:p>
            <a:r>
              <a:rPr lang="en-GB" sz="2800" b="1" dirty="0" err="1">
                <a:latin typeface="Calibri" panose="020F0502020204030204" pitchFamily="34" charset="0"/>
              </a:rPr>
              <a:t>Lagrangeova</a:t>
            </a:r>
            <a:r>
              <a:rPr lang="en-GB" sz="2800" b="1" dirty="0">
                <a:latin typeface="Calibri" panose="020F0502020204030204" pitchFamily="34" charset="0"/>
              </a:rPr>
              <a:t> </a:t>
            </a:r>
            <a:r>
              <a:rPr lang="en-GB" sz="2800" b="1" dirty="0" err="1">
                <a:latin typeface="Calibri" panose="020F0502020204030204" pitchFamily="34" charset="0"/>
              </a:rPr>
              <a:t>funkce</a:t>
            </a:r>
            <a:r>
              <a:rPr lang="en-GB" sz="2800" b="1" dirty="0">
                <a:latin typeface="Calibri" panose="020F0502020204030204" pitchFamily="34" charset="0"/>
              </a:rPr>
              <a:t> _GeoGebra</a:t>
            </a:r>
          </a:p>
        </p:txBody>
      </p:sp>
      <p:sp>
        <p:nvSpPr>
          <p:cNvPr id="31" name="頁尾版面配置區 30">
            <a:extLst>
              <a:ext uri="{FF2B5EF4-FFF2-40B4-BE49-F238E27FC236}">
                <a16:creationId xmlns:a16="http://schemas.microsoft.com/office/drawing/2014/main" id="{D618F95E-43DE-93AD-549C-ADA86A1CC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6MMEM1Modelování v ekonomii a managementu</a:t>
            </a:r>
            <a:endParaRPr lang="en-GB"/>
          </a:p>
        </p:txBody>
      </p:sp>
      <p:pic>
        <p:nvPicPr>
          <p:cNvPr id="29" name="圖片 28">
            <a:extLst>
              <a:ext uri="{FF2B5EF4-FFF2-40B4-BE49-F238E27FC236}">
                <a16:creationId xmlns:a16="http://schemas.microsoft.com/office/drawing/2014/main" id="{C5189071-83E8-FCC2-DE5B-0CE4101855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140" y="1399806"/>
            <a:ext cx="9521300" cy="5083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4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3354" y="2646346"/>
            <a:ext cx="10515962" cy="1044854"/>
          </a:xfrm>
        </p:spPr>
        <p:txBody>
          <a:bodyPr/>
          <a:lstStyle/>
          <a:p>
            <a:br>
              <a:rPr lang="zh-TW" altLang="en-US" b="0" dirty="0"/>
            </a:br>
            <a:r>
              <a:rPr lang="pl-PL" altLang="zh-TW" dirty="0"/>
              <a:t>VLIV ZMĚN CENY NA POPTÁVKU</a:t>
            </a:r>
            <a:endParaRPr lang="zh-TW" alt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6MMEM1Modelování v ekonomii a managementu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8460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zh-TW" altLang="en-US" b="0" dirty="0"/>
            </a:br>
            <a:r>
              <a:rPr lang="en-GB" altLang="zh-TW" dirty="0"/>
              <a:t>DŮCHODOVÁ ELASTICITA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019" y="1665236"/>
            <a:ext cx="11133847" cy="4571236"/>
          </a:xfrm>
        </p:spPr>
        <p:txBody>
          <a:bodyPr/>
          <a:lstStyle/>
          <a:p>
            <a:pPr marL="0" lvl="0" indent="0">
              <a:buNone/>
            </a:pPr>
            <a:r>
              <a:rPr lang="es-ES" altLang="zh-TW" sz="2800" i="1" dirty="0">
                <a:solidFill>
                  <a:prstClr val="black"/>
                </a:solidFill>
                <a:latin typeface="Calibri" panose="020F0502020204030204" pitchFamily="34" charset="0"/>
              </a:rPr>
              <a:t>u</a:t>
            </a:r>
            <a:r>
              <a:rPr lang="es-ES" altLang="zh-TW" sz="2800" dirty="0">
                <a:solidFill>
                  <a:prstClr val="black"/>
                </a:solidFill>
                <a:latin typeface="Calibri" panose="020F0502020204030204" pitchFamily="34" charset="0"/>
              </a:rPr>
              <a:t>(</a:t>
            </a:r>
            <a:r>
              <a:rPr lang="es-ES" altLang="zh-TW" sz="2800" i="1" dirty="0">
                <a:solidFill>
                  <a:prstClr val="black"/>
                </a:solidFill>
                <a:latin typeface="Calibri" panose="020F0502020204030204" pitchFamily="34" charset="0"/>
              </a:rPr>
              <a:t>x, y</a:t>
            </a:r>
            <a:r>
              <a:rPr lang="es-ES" altLang="zh-TW" sz="2800" dirty="0">
                <a:solidFill>
                  <a:prstClr val="black"/>
                </a:solidFill>
                <a:latin typeface="Calibri" panose="020F0502020204030204" pitchFamily="34" charset="0"/>
              </a:rPr>
              <a:t>) = </a:t>
            </a:r>
            <a:r>
              <a:rPr lang="es-ES" altLang="zh-TW" sz="3600" i="1" dirty="0">
                <a:solidFill>
                  <a:prstClr val="black"/>
                </a:solidFill>
                <a:latin typeface="Calibri" panose="020F0502020204030204" pitchFamily="34" charset="0"/>
              </a:rPr>
              <a:t>x</a:t>
            </a:r>
            <a:r>
              <a:rPr lang="cs-CZ" altLang="zh-TW" sz="3600" dirty="0">
                <a:solidFill>
                  <a:prstClr val="black"/>
                </a:solidFill>
                <a:latin typeface="Calibri" panose="020F0502020204030204" pitchFamily="34" charset="0"/>
              </a:rPr>
              <a:t> </a:t>
            </a:r>
            <a:r>
              <a:rPr lang="cs-CZ" altLang="zh-TW" sz="3600" baseline="30000" dirty="0">
                <a:solidFill>
                  <a:prstClr val="black"/>
                </a:solidFill>
                <a:latin typeface="Calibri" panose="020F0502020204030204" pitchFamily="34" charset="0"/>
              </a:rPr>
              <a:t>0,7703</a:t>
            </a:r>
            <a:r>
              <a:rPr lang="cs-CZ" altLang="zh-TW" sz="3600" dirty="0">
                <a:solidFill>
                  <a:prstClr val="black"/>
                </a:solidFill>
                <a:latin typeface="Calibri" panose="020F0502020204030204" pitchFamily="34" charset="0"/>
              </a:rPr>
              <a:t> </a:t>
            </a:r>
            <a:r>
              <a:rPr lang="es-ES" altLang="zh-TW" sz="3600" b="0" dirty="0">
                <a:solidFill>
                  <a:prstClr val="black"/>
                </a:solidFill>
                <a:latin typeface="Cambria Math" panose="02040503050406030204" pitchFamily="18" charset="0"/>
              </a:rPr>
              <a:t>∙</a:t>
            </a:r>
            <a:r>
              <a:rPr lang="es-ES" altLang="zh-TW" sz="3600" i="1" dirty="0">
                <a:solidFill>
                  <a:prstClr val="black"/>
                </a:solidFill>
                <a:latin typeface="Calibri" panose="020F0502020204030204" pitchFamily="34" charset="0"/>
              </a:rPr>
              <a:t>y</a:t>
            </a:r>
            <a:r>
              <a:rPr lang="cs-CZ" altLang="zh-TW" sz="3600" dirty="0">
                <a:solidFill>
                  <a:prstClr val="black"/>
                </a:solidFill>
                <a:latin typeface="Calibri" panose="020F0502020204030204" pitchFamily="34" charset="0"/>
              </a:rPr>
              <a:t> </a:t>
            </a:r>
            <a:r>
              <a:rPr lang="cs-CZ" altLang="zh-TW" sz="3600" baseline="30000" dirty="0">
                <a:solidFill>
                  <a:prstClr val="black"/>
                </a:solidFill>
                <a:latin typeface="Calibri" panose="020F0502020204030204" pitchFamily="34" charset="0"/>
              </a:rPr>
              <a:t>0,2297</a:t>
            </a:r>
            <a:endParaRPr lang="es-ES" altLang="zh-TW" sz="3600" b="0" baseline="30000" dirty="0">
              <a:solidFill>
                <a:prstClr val="black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pl-PL" altLang="zh-TW" b="0" dirty="0"/>
              <a:t>Lagrangeova funkce s novým rozpočtem I </a:t>
            </a:r>
            <a:r>
              <a:rPr lang="pl-PL" altLang="zh-TW" dirty="0"/>
              <a:t>= </a:t>
            </a:r>
            <a:r>
              <a:rPr lang="en-US" altLang="zh-TW" dirty="0">
                <a:solidFill>
                  <a:srgbClr val="FF0000"/>
                </a:solidFill>
              </a:rPr>
              <a:t>700</a:t>
            </a:r>
            <a:r>
              <a:rPr lang="pl-PL" altLang="zh-TW" dirty="0">
                <a:solidFill>
                  <a:srgbClr val="FF0000"/>
                </a:solidFill>
              </a:rPr>
              <a:t> Kč</a:t>
            </a:r>
            <a:br>
              <a:rPr lang="en-US" altLang="zh-TW" dirty="0">
                <a:solidFill>
                  <a:srgbClr val="FF0000"/>
                </a:solidFill>
              </a:rPr>
            </a:br>
            <a:endParaRPr lang="cs-CZ" altLang="zh-TW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cs-CZ" altLang="zh-TW" dirty="0"/>
          </a:p>
          <a:p>
            <a:pPr marL="0" indent="0">
              <a:buNone/>
            </a:pPr>
            <a:endParaRPr lang="cs-CZ" altLang="zh-TW" dirty="0"/>
          </a:p>
          <a:p>
            <a:pPr marL="0" indent="0">
              <a:buNone/>
            </a:pPr>
            <a:endParaRPr lang="cs-CZ" altLang="zh-TW" dirty="0"/>
          </a:p>
          <a:p>
            <a:pPr marL="0" indent="0">
              <a:buNone/>
            </a:pPr>
            <a:endParaRPr lang="cs-CZ" altLang="zh-TW" dirty="0"/>
          </a:p>
          <a:p>
            <a:pPr marL="0" indent="0">
              <a:buNone/>
            </a:pPr>
            <a:r>
              <a:rPr lang="pl-PL" altLang="zh-TW" b="0" dirty="0"/>
              <a:t>Nový optimum </a:t>
            </a:r>
            <a:r>
              <a:rPr lang="en-US" altLang="zh-TW" b="0" dirty="0"/>
              <a:t>[ 51.18,  4.11]</a:t>
            </a:r>
            <a:endParaRPr lang="zh-TW" altLang="en-US" b="0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6MMEM1Modelování v ekonomii a managementu</a:t>
            </a:r>
            <a:endParaRPr lang="en-GB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4000" contrast="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066" y="2998259"/>
            <a:ext cx="4572000" cy="257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直線接點 6"/>
          <p:cNvCxnSpPr/>
          <p:nvPr/>
        </p:nvCxnSpPr>
        <p:spPr>
          <a:xfrm>
            <a:off x="2125133" y="5317067"/>
            <a:ext cx="308186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/>
          <p:cNvSpPr txBox="1"/>
          <p:nvPr/>
        </p:nvSpPr>
        <p:spPr>
          <a:xfrm>
            <a:off x="7579865" y="2429184"/>
            <a:ext cx="3909402" cy="132343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L</a:t>
            </a:r>
            <a:r>
              <a:rPr lang="cs-CZ" altLang="zh-TW" sz="2000" dirty="0"/>
              <a:t>    </a:t>
            </a:r>
            <a:r>
              <a:rPr lang="en-US" altLang="zh-TW" sz="2000" dirty="0"/>
              <a:t>     </a:t>
            </a:r>
            <a:r>
              <a:rPr lang="cs-CZ" altLang="zh-TW" sz="2000" dirty="0"/>
              <a:t> </a:t>
            </a:r>
            <a:r>
              <a:rPr lang="en-US" altLang="zh-TW" sz="2000" dirty="0"/>
              <a:t>:</a:t>
            </a:r>
            <a:r>
              <a:rPr lang="cs-CZ" altLang="zh-TW" sz="2000" dirty="0"/>
              <a:t> </a:t>
            </a:r>
            <a:r>
              <a:rPr lang="en-GB" altLang="zh-TW" sz="2000" dirty="0"/>
              <a:t>= </a:t>
            </a:r>
            <a:r>
              <a:rPr lang="en-US" altLang="zh-TW" sz="2000" dirty="0"/>
              <a:t>1025</a:t>
            </a:r>
            <a:r>
              <a:rPr lang="en-GB" altLang="zh-TW" sz="2000" dirty="0"/>
              <a:t>Kcˇ</a:t>
            </a:r>
            <a:br>
              <a:rPr lang="en-GB" altLang="zh-TW" sz="2000" dirty="0"/>
            </a:br>
            <a:r>
              <a:rPr lang="en-US" altLang="zh-TW" sz="2000" dirty="0"/>
              <a:t>Nov</a:t>
            </a:r>
            <a:r>
              <a:rPr lang="cs-CZ" altLang="zh-TW" sz="2000" dirty="0"/>
              <a:t>ý</a:t>
            </a:r>
            <a:r>
              <a:rPr lang="en-US" altLang="zh-TW" sz="2000" dirty="0"/>
              <a:t> L</a:t>
            </a:r>
            <a:r>
              <a:rPr lang="cs-CZ" altLang="zh-TW" sz="2000" dirty="0"/>
              <a:t>: </a:t>
            </a:r>
            <a:r>
              <a:rPr lang="en-GB" altLang="zh-TW" sz="2000" dirty="0"/>
              <a:t>= </a:t>
            </a:r>
            <a:r>
              <a:rPr lang="en-US" altLang="zh-TW" sz="2000" dirty="0"/>
              <a:t>770 </a:t>
            </a:r>
            <a:r>
              <a:rPr lang="en-GB" altLang="zh-TW" sz="2000" dirty="0" err="1"/>
              <a:t>Kč</a:t>
            </a:r>
            <a:br>
              <a:rPr lang="en-GB" altLang="zh-TW" sz="2000" dirty="0"/>
            </a:br>
            <a:r>
              <a:rPr lang="en-GB" altLang="zh-TW" sz="2000" dirty="0"/>
              <a:t>e:</a:t>
            </a:r>
            <a:r>
              <a:rPr lang="zh-TW" altLang="en-US" sz="2000" dirty="0"/>
              <a:t>           </a:t>
            </a:r>
            <a:r>
              <a:rPr lang="en-GB" altLang="zh-TW" sz="2000" dirty="0"/>
              <a:t>optimum: [</a:t>
            </a:r>
            <a:r>
              <a:rPr lang="en-US" altLang="zh-TW" sz="2000" dirty="0"/>
              <a:t>63,18</a:t>
            </a:r>
            <a:r>
              <a:rPr lang="en-GB" altLang="zh-TW" sz="2000" dirty="0"/>
              <a:t> ; </a:t>
            </a:r>
            <a:r>
              <a:rPr lang="en-US" altLang="zh-TW" sz="2000" dirty="0"/>
              <a:t>5</a:t>
            </a:r>
            <a:r>
              <a:rPr lang="en-GB" altLang="zh-TW" sz="2000" dirty="0"/>
              <a:t>,</a:t>
            </a:r>
            <a:r>
              <a:rPr lang="en-US" altLang="zh-TW" sz="2000" dirty="0"/>
              <a:t>47</a:t>
            </a:r>
            <a:r>
              <a:rPr lang="en-GB" altLang="zh-TW" sz="2000" dirty="0"/>
              <a:t>]</a:t>
            </a:r>
            <a:br>
              <a:rPr lang="en-GB" altLang="zh-TW" sz="2000" dirty="0"/>
            </a:br>
            <a:r>
              <a:rPr lang="en-US" altLang="zh-TW" sz="2000" dirty="0"/>
              <a:t>Nov</a:t>
            </a:r>
            <a:r>
              <a:rPr lang="cs-CZ" altLang="zh-TW" sz="2000" dirty="0"/>
              <a:t>ý</a:t>
            </a:r>
            <a:r>
              <a:rPr lang="en-US" altLang="zh-TW" sz="2000" dirty="0"/>
              <a:t> e</a:t>
            </a:r>
            <a:r>
              <a:rPr lang="cs-CZ" altLang="zh-TW" sz="2000" dirty="0"/>
              <a:t>:</a:t>
            </a:r>
            <a:r>
              <a:rPr lang="zh-TW" altLang="en-US" sz="2000" dirty="0"/>
              <a:t> </a:t>
            </a:r>
            <a:r>
              <a:rPr lang="en-GB" altLang="zh-TW" sz="2000" dirty="0"/>
              <a:t>optimum: [</a:t>
            </a:r>
            <a:r>
              <a:rPr lang="en-US" altLang="zh-TW" sz="2000" dirty="0"/>
              <a:t>51</a:t>
            </a:r>
            <a:r>
              <a:rPr lang="en-GB" altLang="zh-TW" sz="2000" dirty="0"/>
              <a:t>,</a:t>
            </a:r>
            <a:r>
              <a:rPr lang="en-US" altLang="zh-TW" sz="2000" dirty="0"/>
              <a:t>18 </a:t>
            </a:r>
            <a:r>
              <a:rPr lang="en-GB" altLang="zh-TW" sz="2000" dirty="0"/>
              <a:t>; </a:t>
            </a:r>
            <a:r>
              <a:rPr lang="en-US" altLang="zh-TW" sz="2000" dirty="0"/>
              <a:t>4,11</a:t>
            </a:r>
            <a:r>
              <a:rPr lang="en-GB" altLang="zh-TW" sz="2000" dirty="0"/>
              <a:t>]</a:t>
            </a:r>
            <a:endParaRPr lang="zh-TW" altLang="en-US" sz="20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30000" contras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755465" y="4284135"/>
            <a:ext cx="1473202" cy="1946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34000" contrast="3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1500" y="4284134"/>
            <a:ext cx="1529908" cy="1917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字方塊 9"/>
          <p:cNvSpPr txBox="1"/>
          <p:nvPr/>
        </p:nvSpPr>
        <p:spPr>
          <a:xfrm>
            <a:off x="7831666" y="3828651"/>
            <a:ext cx="1405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e</a:t>
            </a:r>
            <a:r>
              <a:rPr lang="en-US" altLang="zh-TW" dirty="0"/>
              <a:t> </a:t>
            </a:r>
            <a:r>
              <a:rPr lang="en-US" altLang="zh-TW" sz="1400" dirty="0" err="1"/>
              <a:t>brambory</a:t>
            </a:r>
            <a:endParaRPr lang="zh-TW" altLang="en-US" sz="14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9660466" y="3891924"/>
            <a:ext cx="1405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e</a:t>
            </a:r>
            <a:r>
              <a:rPr lang="en-US" altLang="zh-TW" dirty="0"/>
              <a:t> </a:t>
            </a:r>
            <a:r>
              <a:rPr lang="en-US" altLang="zh-TW" sz="1600" dirty="0"/>
              <a:t>r</a:t>
            </a:r>
            <a:r>
              <a:rPr lang="cs-CZ" altLang="zh-TW" sz="1600" dirty="0"/>
              <a:t>ýže</a:t>
            </a:r>
            <a:endParaRPr lang="zh-TW" altLang="en-US" sz="1600" dirty="0"/>
          </a:p>
        </p:txBody>
      </p:sp>
      <p:sp>
        <p:nvSpPr>
          <p:cNvPr id="11" name="矩形 10"/>
          <p:cNvSpPr/>
          <p:nvPr/>
        </p:nvSpPr>
        <p:spPr>
          <a:xfrm>
            <a:off x="7520597" y="6292334"/>
            <a:ext cx="33003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cs-CZ" altLang="zh-TW" dirty="0"/>
              <a:t>0&lt; eID &lt; 1 </a:t>
            </a:r>
            <a:r>
              <a:rPr lang="en-US" altLang="zh-TW" dirty="0"/>
              <a:t> </a:t>
            </a:r>
            <a:r>
              <a:rPr lang="cs-CZ" altLang="zh-TW" dirty="0"/>
              <a:t>(nezbytný statek)</a:t>
            </a:r>
            <a:endParaRPr lang="en-GB" altLang="zh-TW" dirty="0"/>
          </a:p>
        </p:txBody>
      </p:sp>
    </p:spTree>
    <p:extLst>
      <p:ext uri="{BB962C8B-B14F-4D97-AF65-F5344CB8AC3E}">
        <p14:creationId xmlns:p14="http://schemas.microsoft.com/office/powerpoint/2010/main" val="222866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zh-TW" altLang="en-US" b="0" dirty="0"/>
            </a:br>
            <a:r>
              <a:rPr lang="en-GB" altLang="zh-TW" dirty="0"/>
              <a:t>DŮCHODOVÁ ELASTICITA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019" y="1665236"/>
            <a:ext cx="10778247" cy="4571236"/>
          </a:xfrm>
        </p:spPr>
        <p:txBody>
          <a:bodyPr/>
          <a:lstStyle/>
          <a:p>
            <a:r>
              <a:rPr lang="en-GB" altLang="zh-TW" dirty="0" err="1"/>
              <a:t>Reálná</a:t>
            </a:r>
            <a:r>
              <a:rPr lang="en-GB" altLang="zh-TW" dirty="0"/>
              <a:t> data : </a:t>
            </a:r>
            <a:r>
              <a:rPr lang="en-GB" altLang="zh-TW" dirty="0" err="1"/>
              <a:t>rok</a:t>
            </a:r>
            <a:r>
              <a:rPr lang="en-GB" altLang="zh-TW" dirty="0"/>
              <a:t> 2013 - &gt; 2014</a:t>
            </a:r>
            <a:endParaRPr lang="en-GB" altLang="zh-TW" b="0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6MMEM1Modelování v ekonomii a managementu</a:t>
            </a:r>
            <a:endParaRPr lang="en-GB"/>
          </a:p>
        </p:txBody>
      </p:sp>
      <p:sp>
        <p:nvSpPr>
          <p:cNvPr id="13" name="AutoShape 6" descr="輸出圖像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4" name="AutoShape 8" descr="輸出圖像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2058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2962" y="5351186"/>
            <a:ext cx="6541780" cy="1506814"/>
          </a:xfrm>
          <a:prstGeom prst="rect">
            <a:avLst/>
          </a:prstGeom>
          <a:noFill/>
          <a:ln w="9525">
            <a:solidFill>
              <a:srgbClr val="00B0F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298DB46B-3BF2-5E71-119D-EBFD48017B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123" y="2124188"/>
            <a:ext cx="7077075" cy="3133725"/>
          </a:xfrm>
          <a:prstGeom prst="rect">
            <a:avLst/>
          </a:prstGeom>
          <a:ln>
            <a:solidFill>
              <a:srgbClr val="00B0F0"/>
            </a:solidFill>
          </a:ln>
        </p:spPr>
      </p:pic>
      <p:sp>
        <p:nvSpPr>
          <p:cNvPr id="17" name="橢圓 16">
            <a:extLst>
              <a:ext uri="{FF2B5EF4-FFF2-40B4-BE49-F238E27FC236}">
                <a16:creationId xmlns:a16="http://schemas.microsoft.com/office/drawing/2014/main" id="{BD631D65-DCC1-F370-D908-2ED4FEDAEB50}"/>
              </a:ext>
            </a:extLst>
          </p:cNvPr>
          <p:cNvSpPr/>
          <p:nvPr/>
        </p:nvSpPr>
        <p:spPr>
          <a:xfrm>
            <a:off x="3679372" y="4212770"/>
            <a:ext cx="1175657" cy="75111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703C51D0-AF77-8CE2-8988-C5F5A137B83C}"/>
              </a:ext>
            </a:extLst>
          </p:cNvPr>
          <p:cNvSpPr txBox="1"/>
          <p:nvPr/>
        </p:nvSpPr>
        <p:spPr>
          <a:xfrm>
            <a:off x="8493302" y="4057584"/>
            <a:ext cx="36986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 err="1"/>
              <a:t>Elasticita</a:t>
            </a:r>
            <a:r>
              <a:rPr lang="en-GB" sz="2400" dirty="0"/>
              <a:t> &gt; 1 → </a:t>
            </a:r>
            <a:r>
              <a:rPr lang="en-GB" sz="2400" dirty="0" err="1"/>
              <a:t>není</a:t>
            </a:r>
            <a:r>
              <a:rPr lang="en-GB" sz="2400" dirty="0"/>
              <a:t> </a:t>
            </a:r>
            <a:r>
              <a:rPr lang="en-GB" sz="2400" dirty="0" err="1"/>
              <a:t>luxusní</a:t>
            </a:r>
            <a:r>
              <a:rPr lang="en-GB" sz="2400" dirty="0"/>
              <a:t> </a:t>
            </a:r>
            <a:r>
              <a:rPr lang="en-GB" sz="2400" dirty="0" err="1"/>
              <a:t>zboží</a:t>
            </a:r>
            <a:r>
              <a:rPr lang="en-GB" sz="2400" dirty="0"/>
              <a:t>, ale </a:t>
            </a:r>
            <a:r>
              <a:rPr lang="en-GB" sz="2400" dirty="0" err="1"/>
              <a:t>vliv</a:t>
            </a:r>
            <a:r>
              <a:rPr lang="en-GB" sz="2400" dirty="0"/>
              <a:t> </a:t>
            </a:r>
            <a:r>
              <a:rPr lang="en-GB" sz="2400" dirty="0" err="1"/>
              <a:t>růstu</a:t>
            </a:r>
            <a:r>
              <a:rPr lang="en-GB" sz="2400" dirty="0"/>
              <a:t> </a:t>
            </a:r>
            <a:r>
              <a:rPr lang="en-GB" sz="2400" dirty="0" err="1"/>
              <a:t>cen</a:t>
            </a:r>
            <a:r>
              <a:rPr lang="en-GB" sz="2400" dirty="0"/>
              <a:t> (2014)</a:t>
            </a:r>
          </a:p>
        </p:txBody>
      </p:sp>
    </p:spTree>
    <p:extLst>
      <p:ext uri="{BB962C8B-B14F-4D97-AF65-F5344CB8AC3E}">
        <p14:creationId xmlns:p14="http://schemas.microsoft.com/office/powerpoint/2010/main" val="564347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63420" y="885279"/>
            <a:ext cx="10515962" cy="731854"/>
          </a:xfrm>
        </p:spPr>
        <p:txBody>
          <a:bodyPr/>
          <a:lstStyle/>
          <a:p>
            <a:r>
              <a:rPr lang="en-GB" altLang="zh-TW" dirty="0"/>
              <a:t>DŮCHODOVÝ A SUBSTITUČNÍ EFEKT, HICKSŮVROZKLAD</a:t>
            </a:r>
            <a:endParaRPr lang="zh-TW" alt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6MMEM1Modelování v ekonomii a managementu</a:t>
            </a:r>
            <a:endParaRPr lang="en-GB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1148903"/>
              </p:ext>
            </p:extLst>
          </p:nvPr>
        </p:nvGraphicFramePr>
        <p:xfrm>
          <a:off x="961388" y="1768953"/>
          <a:ext cx="9048751" cy="9982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9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91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3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90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15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53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076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537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6009">
                <a:tc rowSpan="2">
                  <a:txBody>
                    <a:bodyPr/>
                    <a:lstStyle/>
                    <a:p>
                      <a:pPr algn="ctr" fontAlgn="ctr"/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ctr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 err="1">
                          <a:effectLst/>
                        </a:rPr>
                        <a:t>Brambory</a:t>
                      </a:r>
                      <a:r>
                        <a:rPr lang="en-GB" sz="1600" u="none" strike="noStrike" dirty="0">
                          <a:effectLst/>
                        </a:rPr>
                        <a:t> CZK/kg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Rýže CZK/kg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rozpočet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</a:rPr>
                        <a:t>S</a:t>
                      </a:r>
                      <a:r>
                        <a:rPr lang="en-GB" sz="1600" u="none" strike="noStrike" baseline="-25000" dirty="0">
                          <a:effectLst/>
                        </a:rPr>
                        <a:t>1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S</a:t>
                      </a:r>
                      <a:r>
                        <a:rPr lang="en-GB" sz="1600" u="none" strike="noStrike" baseline="-25000">
                          <a:effectLst/>
                        </a:rPr>
                        <a:t>2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705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cena (p</a:t>
                      </a:r>
                      <a:r>
                        <a:rPr lang="en-GB" sz="1600" u="none" strike="noStrike" baseline="-25000">
                          <a:effectLst/>
                        </a:rPr>
                        <a:t>x</a:t>
                      </a:r>
                      <a:r>
                        <a:rPr lang="en-GB" sz="1600" u="none" strike="noStrike">
                          <a:effectLst/>
                        </a:rPr>
                        <a:t>)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 err="1">
                          <a:effectLst/>
                        </a:rPr>
                        <a:t>spotřeba</a:t>
                      </a:r>
                      <a:r>
                        <a:rPr lang="en-GB" sz="1600" u="none" strike="noStrike" dirty="0">
                          <a:effectLst/>
                        </a:rPr>
                        <a:t> (x)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 err="1">
                          <a:effectLst/>
                        </a:rPr>
                        <a:t>cena</a:t>
                      </a:r>
                      <a:r>
                        <a:rPr lang="en-GB" sz="1600" u="none" strike="noStrike" dirty="0">
                          <a:effectLst/>
                        </a:rPr>
                        <a:t> (</a:t>
                      </a:r>
                      <a:r>
                        <a:rPr lang="en-GB" sz="1600" u="none" strike="noStrike" dirty="0" err="1">
                          <a:effectLst/>
                        </a:rPr>
                        <a:t>p</a:t>
                      </a:r>
                      <a:r>
                        <a:rPr lang="en-GB" sz="1600" u="none" strike="noStrike" baseline="-25000" dirty="0" err="1">
                          <a:effectLst/>
                        </a:rPr>
                        <a:t>y</a:t>
                      </a:r>
                      <a:r>
                        <a:rPr lang="en-GB" sz="1600" u="none" strike="noStrike" dirty="0">
                          <a:effectLst/>
                        </a:rPr>
                        <a:t>)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 err="1">
                          <a:effectLst/>
                        </a:rPr>
                        <a:t>spotřeba</a:t>
                      </a:r>
                      <a:r>
                        <a:rPr lang="en-GB" sz="1600" u="none" strike="noStrike" dirty="0">
                          <a:effectLst/>
                        </a:rPr>
                        <a:t> (y)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</a:rPr>
                        <a:t>(I)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600" u="none" strike="noStrike" dirty="0">
                          <a:effectLst/>
                        </a:rPr>
                        <a:t>α</a:t>
                      </a:r>
                      <a:endParaRPr lang="el-G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600" u="none" strike="noStrike">
                          <a:effectLst/>
                        </a:rPr>
                        <a:t>1 - α</a:t>
                      </a:r>
                      <a:endParaRPr lang="el-GR" sz="16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289">
                <a:tc>
                  <a:txBody>
                    <a:bodyPr/>
                    <a:lstStyle/>
                    <a:p>
                      <a:pPr algn="ctr" fontAlgn="b"/>
                      <a:r>
                        <a:rPr lang="pl-PL" altLang="zh-TW" sz="1600" dirty="0"/>
                        <a:t>změna ceny </a:t>
                      </a:r>
                      <a:endParaRPr lang="en-GB" sz="1600" b="1" i="0" u="none" strike="noStrike" dirty="0">
                        <a:solidFill>
                          <a:srgbClr val="FF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2000" b="1" i="0" u="none" strike="noStrike" dirty="0">
                          <a:solidFill>
                            <a:srgbClr val="FF0000"/>
                          </a:solidFill>
                          <a:effectLst/>
                          <a:latin typeface="Aptos Narrow"/>
                        </a:rPr>
                        <a:t>8.00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u="none" strike="noStrike" dirty="0">
                          <a:effectLst/>
                        </a:rPr>
                        <a:t>68.29</a:t>
                      </a:r>
                      <a:endParaRPr lang="en-US" altLang="zh-TW" sz="1600" b="1" i="0" u="none" strike="noStrike" dirty="0">
                        <a:solidFill>
                          <a:srgbClr val="FF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u="none" strike="noStrike" dirty="0">
                          <a:effectLst/>
                        </a:rPr>
                        <a:t>43.06</a:t>
                      </a:r>
                      <a:endParaRPr lang="en-US" altLang="zh-TW" sz="1600" b="1" i="0" u="none" strike="noStrike" dirty="0">
                        <a:solidFill>
                          <a:srgbClr val="FF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u="none" strike="noStrike" dirty="0">
                          <a:effectLst/>
                        </a:rPr>
                        <a:t>5.43</a:t>
                      </a:r>
                      <a:endParaRPr lang="en-US" altLang="zh-TW" sz="1600" b="1" i="0" u="none" strike="noStrike" dirty="0">
                        <a:solidFill>
                          <a:srgbClr val="FF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u="none" strike="noStrike" dirty="0">
                          <a:effectLst/>
                        </a:rPr>
                        <a:t>1025.09</a:t>
                      </a:r>
                      <a:endParaRPr lang="en-US" altLang="zh-TW" sz="1600" b="1" i="0" u="none" strike="noStrike" dirty="0">
                        <a:solidFill>
                          <a:srgbClr val="FF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u="none" strike="noStrike" dirty="0">
                          <a:effectLst/>
                        </a:rPr>
                        <a:t>0.7703</a:t>
                      </a:r>
                      <a:endParaRPr lang="en-US" altLang="zh-TW" sz="1600" b="1" i="0" u="none" strike="noStrike" dirty="0">
                        <a:solidFill>
                          <a:srgbClr val="FF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u="none" strike="noStrike" dirty="0">
                          <a:effectLst/>
                        </a:rPr>
                        <a:t>0.2297</a:t>
                      </a:r>
                      <a:endParaRPr lang="en-US" altLang="zh-TW" sz="1600" b="1" i="0" u="none" strike="noStrike" dirty="0">
                        <a:solidFill>
                          <a:srgbClr val="FF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564772"/>
              </p:ext>
            </p:extLst>
          </p:nvPr>
        </p:nvGraphicFramePr>
        <p:xfrm>
          <a:off x="989511" y="2938811"/>
          <a:ext cx="5319003" cy="4910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39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99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066">
                <a:tc>
                  <a:txBody>
                    <a:bodyPr/>
                    <a:lstStyle/>
                    <a:p>
                      <a:pPr algn="r" fontAlgn="b"/>
                      <a:r>
                        <a:rPr lang="en-GB" sz="1800" u="none" strike="noStrike" dirty="0">
                          <a:effectLst/>
                        </a:rPr>
                        <a:t>L(x, y, </a:t>
                      </a:r>
                      <a:r>
                        <a:rPr lang="el-GR" sz="1800" u="none" strike="noStrike" dirty="0">
                          <a:effectLst/>
                        </a:rPr>
                        <a:t>λ)</a:t>
                      </a:r>
                      <a:endParaRPr lang="el-G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TW" sz="1800" u="none" strike="noStrike" dirty="0">
                          <a:effectLst/>
                        </a:rPr>
                        <a:t>=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u="none" strike="noStrike" dirty="0">
                          <a:effectLst/>
                        </a:rPr>
                        <a:t>x</a:t>
                      </a:r>
                      <a:r>
                        <a:rPr lang="es-ES" sz="1800" u="none" strike="noStrike" baseline="30000" dirty="0">
                          <a:effectLst/>
                        </a:rPr>
                        <a:t>0.77</a:t>
                      </a:r>
                      <a:r>
                        <a:rPr lang="es-ES" sz="1800" u="none" strike="noStrike" dirty="0">
                          <a:effectLst/>
                        </a:rPr>
                        <a:t>* y</a:t>
                      </a:r>
                      <a:r>
                        <a:rPr lang="es-ES" sz="1800" u="none" strike="noStrike" baseline="30000" dirty="0">
                          <a:effectLst/>
                        </a:rPr>
                        <a:t>0.23</a:t>
                      </a:r>
                      <a:r>
                        <a:rPr lang="es-ES" sz="1800" u="none" strike="noStrike" dirty="0">
                          <a:effectLst/>
                        </a:rPr>
                        <a:t>+ λ (1025.08 - </a:t>
                      </a:r>
                      <a:r>
                        <a:rPr lang="en-US" altLang="zh-TW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8</a:t>
                      </a:r>
                      <a:r>
                        <a:rPr lang="es-ES" sz="1800" u="none" strike="noStrike" dirty="0">
                          <a:effectLst/>
                        </a:rPr>
                        <a:t>x - 43.06y)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9272955"/>
              </p:ext>
            </p:extLst>
          </p:nvPr>
        </p:nvGraphicFramePr>
        <p:xfrm>
          <a:off x="1025495" y="3671179"/>
          <a:ext cx="5290639" cy="8728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28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04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1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44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563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7489"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 err="1">
                          <a:effectLst/>
                        </a:rPr>
                        <a:t>Marshallovské</a:t>
                      </a:r>
                      <a:r>
                        <a:rPr lang="en-GB" sz="1600" u="none" strike="noStrike" dirty="0">
                          <a:effectLst/>
                        </a:rPr>
                        <a:t> </a:t>
                      </a:r>
                      <a:r>
                        <a:rPr lang="en-GB" sz="1600" u="none" strike="noStrike" dirty="0" err="1">
                          <a:effectLst/>
                        </a:rPr>
                        <a:t>poptávky</a:t>
                      </a:r>
                      <a:r>
                        <a:rPr lang="en-GB" sz="1600" u="none" strike="noStrike" dirty="0">
                          <a:effectLst/>
                        </a:rPr>
                        <a:t>: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x* =</a:t>
                      </a:r>
                      <a:endParaRPr lang="en-GB" sz="1600" b="0" i="0" u="none" strike="noStrike" dirty="0">
                        <a:solidFill>
                          <a:srgbClr val="FF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TW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Aptos Narrow"/>
                        </a:rPr>
                        <a:t>98.7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y* =</a:t>
                      </a:r>
                      <a:endParaRPr lang="en-GB" sz="1600" b="0" i="0" u="none" strike="noStrike" dirty="0">
                        <a:solidFill>
                          <a:srgbClr val="FF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TW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5.47</a:t>
                      </a:r>
                      <a:endParaRPr lang="en-US" altLang="zh-TW" sz="1600" b="0" i="0" u="none" strike="noStrike" dirty="0">
                        <a:solidFill>
                          <a:srgbClr val="FF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408"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 err="1">
                          <a:effectLst/>
                        </a:rPr>
                        <a:t>Užitek</a:t>
                      </a:r>
                      <a:r>
                        <a:rPr lang="en-GB" sz="1600" u="none" strike="noStrike" dirty="0">
                          <a:effectLst/>
                        </a:rPr>
                        <a:t> v </a:t>
                      </a:r>
                      <a:r>
                        <a:rPr lang="en-GB" sz="1600" u="none" strike="noStrike" dirty="0" err="1">
                          <a:effectLst/>
                        </a:rPr>
                        <a:t>optimu</a:t>
                      </a:r>
                      <a:r>
                        <a:rPr lang="en-GB" sz="1600" u="none" strike="noStrike" dirty="0">
                          <a:effectLst/>
                        </a:rPr>
                        <a:t>: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</a:rPr>
                        <a:t>U* =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50.78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8535048"/>
              </p:ext>
            </p:extLst>
          </p:nvPr>
        </p:nvGraphicFramePr>
        <p:xfrm>
          <a:off x="1051984" y="4703076"/>
          <a:ext cx="4319270" cy="1272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7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4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600" u="none" strike="noStrike" dirty="0">
                          <a:effectLst/>
                        </a:rPr>
                        <a:t> </a:t>
                      </a:r>
                      <a:endParaRPr lang="zh-TW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ctr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 err="1">
                          <a:effectLst/>
                        </a:rPr>
                        <a:t>Brambory</a:t>
                      </a:r>
                      <a:r>
                        <a:rPr lang="en-GB" sz="1600" u="none" strike="noStrike" dirty="0">
                          <a:effectLst/>
                        </a:rPr>
                        <a:t> CZK/kg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 err="1">
                          <a:effectLst/>
                        </a:rPr>
                        <a:t>cena</a:t>
                      </a:r>
                      <a:r>
                        <a:rPr lang="en-GB" sz="1600" u="none" strike="noStrike" dirty="0">
                          <a:effectLst/>
                        </a:rPr>
                        <a:t> (</a:t>
                      </a:r>
                      <a:r>
                        <a:rPr lang="en-GB" sz="1600" u="none" strike="noStrike" dirty="0" err="1">
                          <a:effectLst/>
                        </a:rPr>
                        <a:t>p</a:t>
                      </a:r>
                      <a:r>
                        <a:rPr lang="en-GB" sz="1600" u="none" strike="noStrike" baseline="-25000" dirty="0" err="1">
                          <a:effectLst/>
                        </a:rPr>
                        <a:t>x</a:t>
                      </a:r>
                      <a:r>
                        <a:rPr lang="en-GB" sz="1600" u="none" strike="noStrike" dirty="0">
                          <a:effectLst/>
                        </a:rPr>
                        <a:t>)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 err="1">
                          <a:effectLst/>
                        </a:rPr>
                        <a:t>spotřeba</a:t>
                      </a:r>
                      <a:r>
                        <a:rPr lang="en-GB" sz="1600" u="none" strike="noStrike" dirty="0">
                          <a:effectLst/>
                        </a:rPr>
                        <a:t> (x)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288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x1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11.59</a:t>
                      </a:r>
                      <a:endParaRPr lang="en-US" altLang="zh-TW" sz="1600" b="0" i="0" u="none" strike="noStrike" dirty="0">
                        <a:solidFill>
                          <a:srgbClr val="FF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u="none" strike="noStrike" dirty="0">
                          <a:effectLst/>
                        </a:rPr>
                        <a:t>68.13</a:t>
                      </a:r>
                      <a:endParaRPr lang="en-US" altLang="zh-TW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x2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Aptos Narrow"/>
                        </a:rPr>
                        <a:t>8.00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98.70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l" fontAlgn="b"/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 dirty="0" err="1">
                          <a:effectLst/>
                        </a:rPr>
                        <a:t>ePD</a:t>
                      </a:r>
                      <a:r>
                        <a:rPr lang="en-GB" sz="1600" u="none" strike="noStrike" dirty="0">
                          <a:effectLst/>
                        </a:rPr>
                        <a:t> </a:t>
                      </a:r>
                      <a:r>
                        <a:rPr lang="en-GB" sz="1600" u="none" strike="noStrike" dirty="0" err="1">
                          <a:effectLst/>
                        </a:rPr>
                        <a:t>brombory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-1.0000</a:t>
                      </a:r>
                      <a:endParaRPr lang="en-US" altLang="zh-TW" sz="1600" b="1" i="0" u="none" strike="noStrike" dirty="0">
                        <a:solidFill>
                          <a:srgbClr val="FF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8850" y="2806269"/>
            <a:ext cx="6153150" cy="3221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7" name="直線接點 16"/>
          <p:cNvCxnSpPr/>
          <p:nvPr/>
        </p:nvCxnSpPr>
        <p:spPr>
          <a:xfrm>
            <a:off x="10354733" y="5994398"/>
            <a:ext cx="465667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10972800" y="5977463"/>
            <a:ext cx="999067" cy="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10441715" y="6191841"/>
            <a:ext cx="1659467" cy="0"/>
          </a:xfrm>
          <a:prstGeom prst="line">
            <a:avLst/>
          </a:prstGeom>
          <a:ln w="3810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/>
          <p:cNvSpPr txBox="1"/>
          <p:nvPr/>
        </p:nvSpPr>
        <p:spPr>
          <a:xfrm>
            <a:off x="10172699" y="5686621"/>
            <a:ext cx="4148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dirty="0">
                <a:solidFill>
                  <a:schemeClr val="accent5">
                    <a:lumMod val="75000"/>
                  </a:schemeClr>
                </a:solidFill>
              </a:rPr>
              <a:t>SE</a:t>
            </a:r>
            <a:endParaRPr lang="zh-TW" altLang="en-US" sz="1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11095565" y="5685132"/>
            <a:ext cx="4148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dirty="0">
                <a:solidFill>
                  <a:schemeClr val="accent2"/>
                </a:solidFill>
              </a:rPr>
              <a:t>IE</a:t>
            </a:r>
            <a:endParaRPr lang="zh-TW" altLang="en-US" sz="1400" b="1" dirty="0">
              <a:solidFill>
                <a:schemeClr val="accent2"/>
              </a:solidFill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11006665" y="6222996"/>
            <a:ext cx="4148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dirty="0">
                <a:solidFill>
                  <a:srgbClr val="7030A0"/>
                </a:solidFill>
              </a:rPr>
              <a:t>TE</a:t>
            </a:r>
            <a:endParaRPr lang="zh-TW" altLang="en-US" sz="14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8663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圖表 7">
            <a:extLst>
              <a:ext uri="{FF2B5EF4-FFF2-40B4-BE49-F238E27FC236}">
                <a16:creationId xmlns:a16="http://schemas.microsoft.com/office/drawing/2014/main" id="{1191C33E-7188-DE20-77A4-94277F67DB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3315897"/>
              </p:ext>
            </p:extLst>
          </p:nvPr>
        </p:nvGraphicFramePr>
        <p:xfrm>
          <a:off x="5968999" y="1769532"/>
          <a:ext cx="5664202" cy="34628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zh-TW" altLang="en-US" sz="1100" b="0" dirty="0">
                <a:solidFill>
                  <a:srgbClr val="000000"/>
                </a:solidFill>
              </a:rPr>
            </a:br>
            <a:r>
              <a:rPr lang="en-GB" altLang="zh-TW" sz="4000" dirty="0"/>
              <a:t>CENOVÁ ELASTICITA</a:t>
            </a:r>
            <a:endParaRPr lang="zh-TW" altLang="en-US" dirty="0"/>
          </a:p>
        </p:txBody>
      </p:sp>
      <p:graphicFrame>
        <p:nvGraphicFramePr>
          <p:cNvPr id="5" name="內容版面配置區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4959695"/>
              </p:ext>
            </p:extLst>
          </p:nvPr>
        </p:nvGraphicFramePr>
        <p:xfrm>
          <a:off x="1143000" y="1684391"/>
          <a:ext cx="4521200" cy="39713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9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58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30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23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15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GB" sz="1600" u="none" strike="noStrike" dirty="0" err="1">
                          <a:effectLst/>
                        </a:rPr>
                        <a:t>Rok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ctr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Brambory CZK/kg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600" u="none" strike="noStrike">
                          <a:effectLst/>
                        </a:rPr>
                        <a:t> </a:t>
                      </a:r>
                      <a:endParaRPr lang="zh-TW" altLang="en-US" sz="16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61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cena (p</a:t>
                      </a:r>
                      <a:r>
                        <a:rPr lang="en-GB" sz="1600" u="none" strike="noStrike" baseline="-25000">
                          <a:effectLst/>
                        </a:rPr>
                        <a:t>x</a:t>
                      </a:r>
                      <a:r>
                        <a:rPr lang="en-GB" sz="1600" u="none" strike="noStrike">
                          <a:effectLst/>
                        </a:rPr>
                        <a:t>)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spotřeba (x)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CENOVÁ ELASTICITA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748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600" u="none" strike="noStrike">
                          <a:effectLst/>
                        </a:rPr>
                        <a:t>2011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u="none" strike="noStrike">
                          <a:effectLst/>
                        </a:rPr>
                        <a:t>10.5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u="none" strike="noStrike">
                          <a:effectLst/>
                        </a:rPr>
                        <a:t>70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1600" u="none" strike="noStrike">
                          <a:effectLst/>
                        </a:rPr>
                        <a:t> 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42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600" u="none" strike="noStrike">
                          <a:effectLst/>
                        </a:rPr>
                        <a:t>2012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u="none" strike="noStrike">
                          <a:effectLst/>
                        </a:rPr>
                        <a:t>11.2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u="none" strike="noStrike">
                          <a:effectLst/>
                        </a:rPr>
                        <a:t>68.6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u="none" strike="noStrike" dirty="0">
                          <a:effectLst/>
                        </a:rPr>
                        <a:t>-0.3131</a:t>
                      </a:r>
                      <a:endParaRPr lang="en-US" altLang="zh-TW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42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600" u="none" strike="noStrike">
                          <a:effectLst/>
                        </a:rPr>
                        <a:t>2013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u="none" strike="noStrike">
                          <a:effectLst/>
                        </a:rPr>
                        <a:t>8.9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u="none" strike="noStrike">
                          <a:effectLst/>
                        </a:rPr>
                        <a:t>68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u="none" strike="noStrike" dirty="0">
                          <a:effectLst/>
                        </a:rPr>
                        <a:t>0.0384</a:t>
                      </a:r>
                      <a:endParaRPr lang="en-US" altLang="zh-TW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42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600" u="none" strike="noStrike">
                          <a:effectLst/>
                        </a:rPr>
                        <a:t>2014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u="none" strike="noStrike">
                          <a:effectLst/>
                        </a:rPr>
                        <a:t>11.4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u="none" strike="noStrike">
                          <a:effectLst/>
                        </a:rPr>
                        <a:t>70.1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u="none" strike="noStrike" dirty="0">
                          <a:effectLst/>
                        </a:rPr>
                        <a:t>0.1235</a:t>
                      </a:r>
                      <a:endParaRPr lang="en-US" altLang="zh-TW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42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600" u="none" strike="noStrike">
                          <a:effectLst/>
                        </a:rPr>
                        <a:t>2015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u="none" strike="noStrike">
                          <a:effectLst/>
                        </a:rPr>
                        <a:t>11.2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u="none" strike="noStrike">
                          <a:effectLst/>
                        </a:rPr>
                        <a:t>66.3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u="none" strike="noStrike" dirty="0">
                          <a:effectLst/>
                        </a:rPr>
                        <a:t>3.1481</a:t>
                      </a:r>
                      <a:endParaRPr lang="en-US" altLang="zh-TW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42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600" u="none" strike="noStrike">
                          <a:effectLst/>
                        </a:rPr>
                        <a:t>2016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u="none" strike="noStrike">
                          <a:effectLst/>
                        </a:rPr>
                        <a:t>10.5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u="none" strike="noStrike">
                          <a:effectLst/>
                        </a:rPr>
                        <a:t>69.1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u="none" strike="noStrike" dirty="0">
                          <a:effectLst/>
                        </a:rPr>
                        <a:t>-0.6411</a:t>
                      </a:r>
                      <a:endParaRPr lang="en-US" altLang="zh-TW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42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600" u="none" strike="noStrike">
                          <a:effectLst/>
                        </a:rPr>
                        <a:t>2017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u="none" strike="noStrike">
                          <a:effectLst/>
                        </a:rPr>
                        <a:t>10.8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u="none" strike="noStrike">
                          <a:effectLst/>
                        </a:rPr>
                        <a:t>68.5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u="none" strike="noStrike" dirty="0">
                          <a:effectLst/>
                        </a:rPr>
                        <a:t>-0.3096</a:t>
                      </a:r>
                      <a:endParaRPr lang="en-US" altLang="zh-TW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742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600" u="none" strike="noStrike">
                          <a:effectLst/>
                        </a:rPr>
                        <a:t>2018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u="none" strike="noStrike">
                          <a:effectLst/>
                        </a:rPr>
                        <a:t>13.6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u="none" strike="noStrike">
                          <a:effectLst/>
                        </a:rPr>
                        <a:t>67.7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u="none" strike="noStrike" dirty="0">
                          <a:effectLst/>
                        </a:rPr>
                        <a:t>-0.0512</a:t>
                      </a:r>
                      <a:endParaRPr lang="en-US" altLang="zh-TW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742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600" u="none" strike="noStrike">
                          <a:effectLst/>
                        </a:rPr>
                        <a:t>2019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u="none" strike="noStrike">
                          <a:effectLst/>
                        </a:rPr>
                        <a:t>14.3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u="none" strike="noStrike">
                          <a:effectLst/>
                        </a:rPr>
                        <a:t>69.5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u="none" strike="noStrike" dirty="0">
                          <a:effectLst/>
                        </a:rPr>
                        <a:t>0.5229</a:t>
                      </a:r>
                      <a:endParaRPr lang="en-US" altLang="zh-TW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742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600" u="none" strike="noStrike">
                          <a:effectLst/>
                        </a:rPr>
                        <a:t>2020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u="none" strike="noStrike">
                          <a:effectLst/>
                        </a:rPr>
                        <a:t>13.5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u="none" strike="noStrike">
                          <a:effectLst/>
                        </a:rPr>
                        <a:t>65.1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u="none" strike="noStrike" dirty="0">
                          <a:effectLst/>
                        </a:rPr>
                        <a:t>1.1360</a:t>
                      </a:r>
                      <a:endParaRPr lang="en-US" altLang="zh-TW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871888" y="6595641"/>
            <a:ext cx="8392904" cy="195910"/>
          </a:xfrm>
        </p:spPr>
        <p:txBody>
          <a:bodyPr/>
          <a:lstStyle/>
          <a:p>
            <a:r>
              <a:rPr lang="pt-BR"/>
              <a:t>6MMEM1Modelování v ekonomii a managementu</a:t>
            </a:r>
            <a:endParaRPr lang="en-GB"/>
          </a:p>
        </p:txBody>
      </p:sp>
      <p:cxnSp>
        <p:nvCxnSpPr>
          <p:cNvPr id="6" name="直線接點 5"/>
          <p:cNvCxnSpPr/>
          <p:nvPr/>
        </p:nvCxnSpPr>
        <p:spPr>
          <a:xfrm>
            <a:off x="6045201" y="4495795"/>
            <a:ext cx="5427133" cy="0"/>
          </a:xfrm>
          <a:prstGeom prst="line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7960503" y="3997867"/>
            <a:ext cx="15965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altLang="zh-TW" dirty="0"/>
              <a:t>Giffenův statek</a:t>
            </a:r>
            <a:endParaRPr lang="zh-TW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6754051" y="5344067"/>
            <a:ext cx="40094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TW" b="1" dirty="0" err="1"/>
              <a:t>nezbytné</a:t>
            </a:r>
            <a:r>
              <a:rPr lang="en-GB" altLang="zh-TW" b="1" dirty="0"/>
              <a:t> </a:t>
            </a:r>
            <a:r>
              <a:rPr lang="en-GB" altLang="zh-TW" b="1" dirty="0" err="1"/>
              <a:t>zboží</a:t>
            </a:r>
            <a:r>
              <a:rPr lang="en-GB" altLang="zh-TW" dirty="0"/>
              <a:t> s </a:t>
            </a:r>
            <a:r>
              <a:rPr lang="en-GB" altLang="zh-TW" dirty="0" err="1"/>
              <a:t>neelastickou</a:t>
            </a:r>
            <a:r>
              <a:rPr lang="en-GB" altLang="zh-TW" dirty="0"/>
              <a:t> </a:t>
            </a:r>
            <a:r>
              <a:rPr lang="en-GB" altLang="zh-TW" dirty="0" err="1"/>
              <a:t>poptávkou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30222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橢圓 18"/>
          <p:cNvSpPr/>
          <p:nvPr/>
        </p:nvSpPr>
        <p:spPr>
          <a:xfrm>
            <a:off x="10557933" y="3633872"/>
            <a:ext cx="365424" cy="21465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橢圓 19"/>
          <p:cNvSpPr/>
          <p:nvPr/>
        </p:nvSpPr>
        <p:spPr>
          <a:xfrm>
            <a:off x="8720666" y="3633872"/>
            <a:ext cx="365424" cy="21465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/>
          <p:cNvSpPr/>
          <p:nvPr/>
        </p:nvSpPr>
        <p:spPr>
          <a:xfrm>
            <a:off x="7591045" y="3633872"/>
            <a:ext cx="365424" cy="21465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22" name="圖表 21">
            <a:extLst>
              <a:ext uri="{FF2B5EF4-FFF2-40B4-BE49-F238E27FC236}">
                <a16:creationId xmlns:a16="http://schemas.microsoft.com/office/drawing/2014/main" id="{A1DD2C5E-0B87-2574-B926-01CE6AB5413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9863041"/>
              </p:ext>
            </p:extLst>
          </p:nvPr>
        </p:nvGraphicFramePr>
        <p:xfrm>
          <a:off x="5966247" y="1989309"/>
          <a:ext cx="5675419" cy="35212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zh-TW" altLang="en-US" sz="1100" b="0" dirty="0">
                <a:solidFill>
                  <a:srgbClr val="000000"/>
                </a:solidFill>
              </a:rPr>
            </a:br>
            <a:r>
              <a:rPr lang="en-GB" altLang="zh-TW" sz="4000" dirty="0"/>
              <a:t>KŘÍŽOVÝ EFEKT - </a:t>
            </a:r>
            <a:r>
              <a:rPr lang="en-GB" altLang="zh-TW" sz="2400" b="0" dirty="0" err="1"/>
              <a:t>Změna</a:t>
            </a:r>
            <a:r>
              <a:rPr lang="en-GB" altLang="zh-TW" sz="2400" b="0" dirty="0"/>
              <a:t> </a:t>
            </a:r>
            <a:r>
              <a:rPr lang="en-GB" altLang="zh-TW" sz="2400" b="0" dirty="0" err="1"/>
              <a:t>ceny</a:t>
            </a:r>
            <a:r>
              <a:rPr lang="en-GB" altLang="zh-TW" sz="2400" b="0" dirty="0"/>
              <a:t> </a:t>
            </a:r>
            <a:r>
              <a:rPr lang="en-GB" altLang="zh-TW" sz="2400" b="0" dirty="0" err="1"/>
              <a:t>Rýže</a:t>
            </a:r>
            <a:r>
              <a:rPr lang="en-GB" altLang="zh-TW" sz="2400" b="0" dirty="0"/>
              <a:t>, </a:t>
            </a:r>
            <a:r>
              <a:rPr lang="en-GB" altLang="zh-TW" sz="2400" b="0" dirty="0" err="1"/>
              <a:t>Změna</a:t>
            </a:r>
            <a:r>
              <a:rPr lang="en-GB" altLang="zh-TW" sz="2400" b="0" dirty="0"/>
              <a:t> </a:t>
            </a:r>
            <a:r>
              <a:rPr lang="en-GB" altLang="zh-TW" sz="2400" b="0" dirty="0" err="1"/>
              <a:t>poptávky</a:t>
            </a:r>
            <a:r>
              <a:rPr lang="en-GB" altLang="zh-TW" sz="2400" b="0" dirty="0"/>
              <a:t> </a:t>
            </a:r>
            <a:r>
              <a:rPr lang="en-GB" altLang="zh-TW" sz="2400" b="0" dirty="0" err="1"/>
              <a:t>po</a:t>
            </a:r>
            <a:r>
              <a:rPr lang="en-GB" altLang="zh-TW" sz="2400" b="0" dirty="0"/>
              <a:t> </a:t>
            </a:r>
            <a:r>
              <a:rPr lang="en-GB" altLang="zh-TW" sz="2400" b="0" dirty="0" err="1"/>
              <a:t>Brambory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63420" y="1591770"/>
            <a:ext cx="10515962" cy="4571236"/>
          </a:xfrm>
        </p:spPr>
        <p:txBody>
          <a:bodyPr/>
          <a:lstStyle/>
          <a:p>
            <a:r>
              <a:rPr lang="en-GB" altLang="zh-TW" sz="2400" b="0" dirty="0"/>
              <a:t>2014, 2016 a 2019 : </a:t>
            </a:r>
            <a:br>
              <a:rPr lang="en-GB" altLang="zh-TW" sz="2400" b="0" dirty="0"/>
            </a:br>
            <a:r>
              <a:rPr lang="en-GB" altLang="zh-TW" sz="2400" b="0" dirty="0" err="1"/>
              <a:t>substituty</a:t>
            </a:r>
            <a:r>
              <a:rPr lang="en-GB" altLang="zh-TW" sz="2400" b="0" dirty="0"/>
              <a:t>.</a:t>
            </a:r>
            <a:br>
              <a:rPr lang="en-GB" altLang="zh-TW" sz="2400" b="0" dirty="0"/>
            </a:br>
            <a:r>
              <a:rPr lang="en-GB" altLang="zh-TW" sz="2400" b="0" dirty="0"/>
              <a:t> - </a:t>
            </a:r>
            <a:r>
              <a:rPr lang="en-GB" altLang="zh-TW" sz="2400" b="0" dirty="0" err="1"/>
              <a:t>závislost</a:t>
            </a:r>
            <a:r>
              <a:rPr lang="en-GB" altLang="zh-TW" sz="2400" b="0" dirty="0"/>
              <a:t> </a:t>
            </a:r>
            <a:r>
              <a:rPr lang="en-GB" altLang="zh-TW" sz="2400" b="0" dirty="0" err="1"/>
              <a:t>poměrně</a:t>
            </a:r>
            <a:r>
              <a:rPr lang="en-GB" altLang="zh-TW" sz="2400" b="0" dirty="0"/>
              <a:t> </a:t>
            </a:r>
            <a:r>
              <a:rPr lang="en-GB" altLang="zh-TW" sz="2400" b="0" dirty="0" err="1"/>
              <a:t>silná</a:t>
            </a:r>
            <a:r>
              <a:rPr lang="en-GB" altLang="zh-TW" sz="2400" b="0" dirty="0"/>
              <a:t>.</a:t>
            </a:r>
            <a:br>
              <a:rPr lang="en-GB" altLang="zh-TW" sz="2400" b="0" dirty="0"/>
            </a:br>
            <a:endParaRPr lang="en-GB" altLang="zh-TW" sz="2400" b="0" dirty="0"/>
          </a:p>
          <a:p>
            <a:r>
              <a:rPr lang="en-GB" altLang="zh-TW" sz="2400" b="0" dirty="0"/>
              <a:t>V </a:t>
            </a:r>
            <a:r>
              <a:rPr lang="en-GB" altLang="zh-TW" sz="2400" b="0" dirty="0" err="1"/>
              <a:t>ostatních</a:t>
            </a:r>
            <a:r>
              <a:rPr lang="en-GB" altLang="zh-TW" sz="2400" b="0" dirty="0"/>
              <a:t> </a:t>
            </a:r>
            <a:r>
              <a:rPr lang="en-GB" altLang="zh-TW" sz="2400" b="0" dirty="0" err="1"/>
              <a:t>letech</a:t>
            </a:r>
            <a:r>
              <a:rPr lang="en-GB" altLang="zh-TW" sz="2400" b="0" dirty="0"/>
              <a:t> : </a:t>
            </a:r>
            <a:br>
              <a:rPr lang="en-GB" altLang="zh-TW" sz="2400" b="0" dirty="0"/>
            </a:br>
            <a:r>
              <a:rPr lang="en-GB" altLang="zh-TW" sz="2400" b="0" dirty="0" err="1"/>
              <a:t>komplimety</a:t>
            </a:r>
            <a:r>
              <a:rPr lang="en-GB" altLang="zh-TW" sz="2400" b="0" dirty="0"/>
              <a:t> (</a:t>
            </a:r>
            <a:r>
              <a:rPr lang="en-GB" altLang="zh-TW" sz="2400" b="0" dirty="0" err="1"/>
              <a:t>kromě</a:t>
            </a:r>
            <a:r>
              <a:rPr lang="en-GB" altLang="zh-TW" sz="2400" b="0" dirty="0"/>
              <a:t> 2015 a 2020) </a:t>
            </a:r>
            <a:br>
              <a:rPr lang="en-GB" altLang="zh-TW" sz="2400" b="0" dirty="0"/>
            </a:br>
            <a:r>
              <a:rPr lang="en-GB" altLang="zh-TW" sz="2400" b="0" dirty="0"/>
              <a:t>- </a:t>
            </a:r>
            <a:r>
              <a:rPr lang="en-GB" altLang="zh-TW" sz="2400" b="0" dirty="0" err="1"/>
              <a:t>závislost</a:t>
            </a:r>
            <a:r>
              <a:rPr lang="en-GB" altLang="zh-TW" sz="2400" b="0" dirty="0"/>
              <a:t> </a:t>
            </a:r>
            <a:r>
              <a:rPr lang="en-GB" altLang="zh-TW" sz="2400" b="0" dirty="0" err="1"/>
              <a:t>není</a:t>
            </a:r>
            <a:r>
              <a:rPr lang="en-GB" altLang="zh-TW" sz="2400" b="0" dirty="0"/>
              <a:t> </a:t>
            </a:r>
            <a:r>
              <a:rPr lang="en-GB" altLang="zh-TW" sz="2400" b="0" dirty="0" err="1"/>
              <a:t>výrazný</a:t>
            </a:r>
            <a:br>
              <a:rPr lang="en-GB" altLang="zh-TW" sz="2400" b="0" dirty="0"/>
            </a:br>
            <a:endParaRPr lang="en-GB" altLang="zh-TW" sz="2400" b="0" dirty="0"/>
          </a:p>
          <a:p>
            <a:r>
              <a:rPr lang="en-US" altLang="zh-TW" sz="2400" b="0" dirty="0"/>
              <a:t>2015,2020: </a:t>
            </a:r>
            <a:r>
              <a:rPr lang="en-GB" altLang="zh-TW" sz="2400" b="0" dirty="0" err="1"/>
              <a:t>výjimky</a:t>
            </a:r>
            <a:br>
              <a:rPr lang="en-GB" altLang="zh-TW" sz="2400" b="0" dirty="0"/>
            </a:br>
            <a:r>
              <a:rPr lang="en-GB" altLang="zh-TW" sz="2400" b="0" dirty="0"/>
              <a:t>- </a:t>
            </a:r>
            <a:r>
              <a:rPr lang="en-GB" altLang="zh-TW" sz="2400" b="0" dirty="0" err="1"/>
              <a:t>taky</a:t>
            </a:r>
            <a:r>
              <a:rPr lang="en-GB" altLang="zh-TW" sz="2400" b="0" dirty="0"/>
              <a:t> u </a:t>
            </a:r>
            <a:r>
              <a:rPr lang="en-GB" altLang="zh-TW" sz="2400" b="0" dirty="0" err="1"/>
              <a:t>cenové</a:t>
            </a:r>
            <a:r>
              <a:rPr lang="en-GB" altLang="zh-TW" sz="2400" b="0" dirty="0"/>
              <a:t> elasticity.</a:t>
            </a:r>
            <a:br>
              <a:rPr lang="en-US" altLang="zh-TW" sz="2400" b="0" dirty="0"/>
            </a:br>
            <a:r>
              <a:rPr lang="en-US" altLang="zh-TW" sz="2400" b="0" dirty="0"/>
              <a:t>- </a:t>
            </a:r>
            <a:r>
              <a:rPr lang="en-US" altLang="zh-TW" sz="2400" b="0" dirty="0" err="1"/>
              <a:t>mo</a:t>
            </a:r>
            <a:r>
              <a:rPr lang="cs-CZ" altLang="zh-TW" sz="2400" b="0" dirty="0"/>
              <a:t>žnost </a:t>
            </a:r>
            <a:r>
              <a:rPr lang="en-GB" altLang="zh-TW" sz="2400" b="0" dirty="0" err="1"/>
              <a:t>vlivu</a:t>
            </a:r>
            <a:r>
              <a:rPr lang="en-GB" altLang="zh-TW" sz="2400" b="0" dirty="0"/>
              <a:t> </a:t>
            </a:r>
            <a:r>
              <a:rPr lang="en-GB" altLang="zh-TW" sz="2400" b="0" dirty="0" err="1"/>
              <a:t>mimoekonomických</a:t>
            </a:r>
            <a:r>
              <a:rPr lang="en-GB" altLang="zh-TW" sz="2400" b="0" dirty="0"/>
              <a:t> </a:t>
            </a:r>
            <a:r>
              <a:rPr lang="en-GB" altLang="zh-TW" sz="2400" b="0" dirty="0" err="1"/>
              <a:t>faktor</a:t>
            </a:r>
            <a:endParaRPr lang="en-GB" altLang="zh-TW" sz="2400" b="0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6MMEM1Modelování v ekonomii a managementu</a:t>
            </a:r>
            <a:endParaRPr lang="en-GB"/>
          </a:p>
        </p:txBody>
      </p:sp>
      <p:sp>
        <p:nvSpPr>
          <p:cNvPr id="8" name="矩形 7"/>
          <p:cNvSpPr/>
          <p:nvPr/>
        </p:nvSpPr>
        <p:spPr>
          <a:xfrm>
            <a:off x="4876800" y="3492321"/>
            <a:ext cx="1473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altLang="zh-TW" dirty="0"/>
              <a:t> E&lt;0 </a:t>
            </a:r>
            <a:r>
              <a:rPr lang="en-GB" altLang="zh-TW" dirty="0" err="1"/>
              <a:t>komplimety</a:t>
            </a:r>
            <a:endParaRPr lang="zh-TW" altLang="en-US" dirty="0"/>
          </a:p>
        </p:txBody>
      </p:sp>
      <p:cxnSp>
        <p:nvCxnSpPr>
          <p:cNvPr id="23" name="直線接點 22"/>
          <p:cNvCxnSpPr/>
          <p:nvPr/>
        </p:nvCxnSpPr>
        <p:spPr>
          <a:xfrm>
            <a:off x="4954855" y="3561360"/>
            <a:ext cx="7338245" cy="0"/>
          </a:xfrm>
          <a:prstGeom prst="line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4876800" y="2844086"/>
            <a:ext cx="15974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altLang="zh-TW" dirty="0"/>
              <a:t> E&gt;0, </a:t>
            </a:r>
            <a:r>
              <a:rPr lang="en-GB" altLang="zh-TW" dirty="0" err="1"/>
              <a:t>substituty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6350000" y="5609960"/>
            <a:ext cx="55238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TW" dirty="0" err="1"/>
              <a:t>Zdroj</a:t>
            </a:r>
            <a:r>
              <a:rPr lang="en-GB" altLang="zh-TW" dirty="0"/>
              <a:t>: </a:t>
            </a:r>
            <a:r>
              <a:rPr lang="en-GB" altLang="zh-TW" dirty="0" err="1"/>
              <a:t>vlastní</a:t>
            </a:r>
            <a:r>
              <a:rPr lang="en-GB" altLang="zh-TW" dirty="0"/>
              <a:t> </a:t>
            </a:r>
            <a:r>
              <a:rPr lang="en-GB" altLang="zh-TW" dirty="0" err="1"/>
              <a:t>výpočet</a:t>
            </a:r>
            <a:r>
              <a:rPr lang="en-GB" altLang="zh-TW" dirty="0"/>
              <a:t> z </a:t>
            </a:r>
            <a:r>
              <a:rPr lang="en-GB" altLang="zh-TW" dirty="0" err="1"/>
              <a:t>průměrných</a:t>
            </a:r>
            <a:r>
              <a:rPr lang="en-GB" altLang="zh-TW" dirty="0"/>
              <a:t> </a:t>
            </a:r>
            <a:r>
              <a:rPr lang="en-GB" altLang="zh-TW" dirty="0" err="1"/>
              <a:t>cen</a:t>
            </a:r>
            <a:r>
              <a:rPr lang="en-GB" altLang="zh-TW" dirty="0"/>
              <a:t> a </a:t>
            </a:r>
            <a:r>
              <a:rPr lang="en-GB" altLang="zh-TW" dirty="0" err="1"/>
              <a:t>spotřeby</a:t>
            </a:r>
            <a:r>
              <a:rPr lang="en-GB" altLang="zh-TW" dirty="0"/>
              <a:t> (ČSÚ)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49712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1167B5-2EB7-170F-0F97-DEF1E1688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GB" b="0" dirty="0"/>
            </a:br>
            <a:r>
              <a:rPr lang="en-GB" dirty="0"/>
              <a:t>SEZNAM LITERATURY</a:t>
            </a:r>
          </a:p>
        </p:txBody>
      </p:sp>
      <p:graphicFrame>
        <p:nvGraphicFramePr>
          <p:cNvPr id="5" name="內容版面配置區 4">
            <a:extLst>
              <a:ext uri="{FF2B5EF4-FFF2-40B4-BE49-F238E27FC236}">
                <a16:creationId xmlns:a16="http://schemas.microsoft.com/office/drawing/2014/main" id="{E4C34C84-CBC8-F3B4-DD1C-89D464BDED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5394407"/>
              </p:ext>
            </p:extLst>
          </p:nvPr>
        </p:nvGraphicFramePr>
        <p:xfrm>
          <a:off x="1042852" y="1753740"/>
          <a:ext cx="10311130" cy="3612198"/>
        </p:xfrm>
        <a:graphic>
          <a:graphicData uri="http://schemas.openxmlformats.org/drawingml/2006/table">
            <a:tbl>
              <a:tblPr/>
              <a:tblGrid>
                <a:gridCol w="10311130">
                  <a:extLst>
                    <a:ext uri="{9D8B030D-6E8A-4147-A177-3AD203B41FA5}">
                      <a16:colId xmlns:a16="http://schemas.microsoft.com/office/drawing/2014/main" val="2131631664"/>
                    </a:ext>
                  </a:extLst>
                </a:gridCol>
              </a:tblGrid>
              <a:tr h="198120">
                <a:tc>
                  <a:txBody>
                    <a:bodyPr/>
                    <a:lstStyle/>
                    <a:p>
                      <a:pPr marL="342900" indent="-34290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GB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KURYCZ. </a:t>
                      </a:r>
                      <a:r>
                        <a:rPr lang="en-GB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Rýže</a:t>
                      </a:r>
                      <a:r>
                        <a:rPr lang="en-GB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lang="en-GB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- </a:t>
                      </a:r>
                      <a:r>
                        <a:rPr lang="en-GB" sz="1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historický</a:t>
                      </a:r>
                      <a:r>
                        <a:rPr lang="en-GB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GB" sz="1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vývoj</a:t>
                      </a:r>
                      <a:r>
                        <a:rPr lang="en-GB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GB" sz="1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ceny</a:t>
                      </a:r>
                      <a:r>
                        <a:rPr lang="en-GB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GB" sz="1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Rýže</a:t>
                      </a:r>
                      <a:r>
                        <a:rPr lang="en-GB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po </a:t>
                      </a:r>
                      <a:r>
                        <a:rPr lang="en-GB" sz="1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letech</a:t>
                      </a:r>
                      <a:r>
                        <a:rPr lang="en-GB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, minima, maxima, </a:t>
                      </a:r>
                      <a:r>
                        <a:rPr lang="en-GB" sz="1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průměr</a:t>
                      </a:r>
                      <a:r>
                        <a:rPr lang="en-GB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. 1 t - </a:t>
                      </a:r>
                      <a:r>
                        <a:rPr lang="en-GB" sz="1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měna</a:t>
                      </a:r>
                      <a:r>
                        <a:rPr lang="en-GB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CZK </a:t>
                      </a:r>
                      <a:r>
                        <a:rPr lang="en-GB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[cit. 2025-10-25]. </a:t>
                      </a:r>
                      <a:r>
                        <a:rPr lang="en-GB" sz="18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Dostupné</a:t>
                      </a:r>
                      <a:r>
                        <a:rPr lang="en-GB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z: https://www.kurzy.cz/komodity/ryze-graf-vyvoje-ceny/historie-czk-1t</a:t>
                      </a:r>
                      <a:endParaRPr lang="en-GB" sz="1800" b="0" i="0" u="sng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ČSÚ. </a:t>
                      </a:r>
                      <a:r>
                        <a:rPr lang="en-GB" sz="1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Spotřeba</a:t>
                      </a:r>
                      <a:r>
                        <a:rPr lang="en-GB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GB" sz="1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potravin</a:t>
                      </a:r>
                      <a:r>
                        <a:rPr lang="en-GB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a </a:t>
                      </a:r>
                      <a:r>
                        <a:rPr lang="en-GB" sz="1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nealkoholických</a:t>
                      </a:r>
                      <a:r>
                        <a:rPr lang="en-GB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GB" sz="1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nápojů</a:t>
                      </a:r>
                      <a:r>
                        <a:rPr lang="en-GB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(</a:t>
                      </a:r>
                      <a:r>
                        <a:rPr lang="en-GB" sz="1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na</a:t>
                      </a:r>
                      <a:r>
                        <a:rPr lang="en-GB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GB" sz="1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obyvatele</a:t>
                      </a:r>
                      <a:r>
                        <a:rPr lang="en-GB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za </a:t>
                      </a:r>
                      <a:r>
                        <a:rPr lang="en-GB" sz="1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rok</a:t>
                      </a:r>
                      <a:r>
                        <a:rPr lang="en-GB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)  2011-2020  </a:t>
                      </a:r>
                      <a:r>
                        <a:rPr lang="en-GB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ČSÚ [online]. [cit. 2025-10-25]. </a:t>
                      </a:r>
                      <a:r>
                        <a:rPr lang="en-GB" sz="18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Dostupné</a:t>
                      </a:r>
                      <a:r>
                        <a:rPr lang="en-GB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z: </a:t>
                      </a:r>
                      <a:r>
                        <a:rPr lang="en-GB" sz="1800" b="0" i="0" u="sng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https//csu.gov.cz/docs/107508/77e53226-9032-92bf-3e3a-db736ede6101/2701392101.pdf?version=1.0</a:t>
                      </a:r>
                      <a:endParaRPr lang="en-GB" sz="18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indent="-34290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GB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ČSÚ. </a:t>
                      </a:r>
                      <a:r>
                        <a:rPr lang="en-GB" sz="1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Vývoj</a:t>
                      </a:r>
                      <a:r>
                        <a:rPr lang="en-GB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GB" sz="1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průměrných</a:t>
                      </a:r>
                      <a:r>
                        <a:rPr lang="en-GB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GB" sz="1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cen</a:t>
                      </a:r>
                      <a:r>
                        <a:rPr lang="en-GB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GB" sz="1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vybraných</a:t>
                      </a:r>
                      <a:r>
                        <a:rPr lang="en-GB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GB" sz="1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potravin</a:t>
                      </a:r>
                      <a:r>
                        <a:rPr lang="en-GB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</a:t>
                      </a:r>
                      <a:r>
                        <a:rPr lang="en-GB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ČSÚ [online]. [cit. 2025-10-25]. </a:t>
                      </a:r>
                      <a:r>
                        <a:rPr lang="en-GB" sz="18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Dostupné</a:t>
                      </a:r>
                      <a:r>
                        <a:rPr lang="en-GB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z: </a:t>
                      </a:r>
                      <a:r>
                        <a:rPr lang="en-GB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hlinkClick r:id="rId4"/>
                        </a:rPr>
                        <a:t>https//csu.gov.cz/vyvoj-prumernych-cen-vybranych-potravin-2024</a:t>
                      </a:r>
                      <a:endParaRPr lang="en-GB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  <a:p>
                      <a:pPr marL="342900" marR="0" indent="-342900" algn="l" defTabSz="104249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KURYCZ. </a:t>
                      </a:r>
                      <a:r>
                        <a:rPr lang="en-GB" altLang="zh-TW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Průměrná</a:t>
                      </a:r>
                      <a:r>
                        <a:rPr lang="en-GB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altLang="zh-TW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mzda</a:t>
                      </a:r>
                      <a:r>
                        <a:rPr lang="en-GB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ČSÚ </a:t>
                      </a:r>
                      <a:r>
                        <a:rPr lang="en-GB" altLang="zh-TW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finální</a:t>
                      </a:r>
                      <a:r>
                        <a:rPr lang="en-GB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2013 – </a:t>
                      </a:r>
                      <a:r>
                        <a:rPr lang="en-GB" altLang="zh-TW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hodnoty</a:t>
                      </a:r>
                      <a:r>
                        <a:rPr lang="en-GB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CZK </a:t>
                      </a:r>
                      <a:r>
                        <a:rPr lang="en-GB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[online]. [cit. 2025-10-</a:t>
                      </a:r>
                      <a:r>
                        <a:rPr lang="en-US" altLang="zh-TW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en-GB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]. </a:t>
                      </a:r>
                      <a:r>
                        <a:rPr lang="en-GB" sz="18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Dostupné</a:t>
                      </a:r>
                      <a:r>
                        <a:rPr lang="en-GB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z: </a:t>
                      </a:r>
                      <a:r>
                        <a:rPr lang="en-GB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https://www.kurzy.cz/hodnoty/prumerna_mzda_CSU/2013/</a:t>
                      </a:r>
                      <a:endParaRPr lang="en-GB" altLang="zh-TW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marR="0" indent="-342900" algn="l" defTabSz="104249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KURYCZ. </a:t>
                      </a:r>
                      <a:r>
                        <a:rPr lang="en-GB" altLang="zh-TW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Průměrná</a:t>
                      </a:r>
                      <a:r>
                        <a:rPr lang="en-GB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altLang="zh-TW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mzda</a:t>
                      </a:r>
                      <a:r>
                        <a:rPr lang="en-GB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ČSÚ </a:t>
                      </a:r>
                      <a:r>
                        <a:rPr lang="en-GB" altLang="zh-TW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finální</a:t>
                      </a:r>
                      <a:r>
                        <a:rPr lang="en-GB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2014 – </a:t>
                      </a:r>
                      <a:r>
                        <a:rPr lang="en-GB" altLang="zh-TW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hodnoty</a:t>
                      </a:r>
                      <a:r>
                        <a:rPr lang="en-GB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CZK </a:t>
                      </a:r>
                      <a:r>
                        <a:rPr lang="en-GB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[online]. [cit. 2025-10-</a:t>
                      </a:r>
                      <a:r>
                        <a:rPr lang="en-US" altLang="zh-TW" sz="18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en-GB" sz="18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]. </a:t>
                      </a:r>
                      <a:r>
                        <a:rPr lang="en-GB" sz="18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Dostupné</a:t>
                      </a:r>
                      <a:r>
                        <a:rPr lang="en-GB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z:</a:t>
                      </a:r>
                      <a:r>
                        <a:rPr lang="en-GB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https://www.kurzy.cz/hodnoty/prumerna_mzda_CSU/2014/</a:t>
                      </a:r>
                    </a:p>
                    <a:p>
                      <a:pPr marL="342900" marR="0" indent="-342900" algn="l" defTabSz="1042499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GB" altLang="zh-TW" sz="2052" b="1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indent="-342900" algn="l" fontAlgn="b">
                        <a:buFont typeface="Arial" panose="020B0604020202020204" pitchFamily="34" charset="0"/>
                        <a:buChar char="•"/>
                      </a:pPr>
                      <a:endParaRPr lang="en-GB" sz="18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006604"/>
                  </a:ext>
                </a:extLst>
              </a:tr>
            </a:tbl>
          </a:graphicData>
        </a:graphic>
      </p:graphicFrame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3E53973-3BAD-8C2E-8628-313BFA1BB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6MMEM1Modelování v ekonomii a managementu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3526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自訂設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母片">
  <a:themeElements>
    <a:clrScheme name="Vlastní 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9FD6"/>
      </a:accent1>
      <a:accent2>
        <a:srgbClr val="E3007A"/>
      </a:accent2>
      <a:accent3>
        <a:srgbClr val="8496B0"/>
      </a:accent3>
      <a:accent4>
        <a:srgbClr val="FF5C00"/>
      </a:accent4>
      <a:accent5>
        <a:srgbClr val="5242E6"/>
      </a:accent5>
      <a:accent6>
        <a:srgbClr val="7CD000"/>
      </a:accent6>
      <a:hlink>
        <a:srgbClr val="E3007A"/>
      </a:hlink>
      <a:folHlink>
        <a:srgbClr val="009FD6"/>
      </a:folHlink>
    </a:clrScheme>
    <a:fontScheme name="Kancelář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母片" id="{4A9FCE53-10ED-4208-B8E6-43550B3829D5}" vid="{4A294257-94F2-4433-AB67-1F534626B88D}"/>
    </a:ext>
  </a:extLst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4032</TotalTime>
  <Words>1687</Words>
  <Application>Microsoft Office PowerPoint</Application>
  <PresentationFormat>寬螢幕</PresentationFormat>
  <Paragraphs>296</Paragraphs>
  <Slides>13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13</vt:i4>
      </vt:variant>
    </vt:vector>
  </HeadingPairs>
  <TitlesOfParts>
    <vt:vector size="22" baseType="lpstr">
      <vt:lpstr>Aptos</vt:lpstr>
      <vt:lpstr>Aptos Display</vt:lpstr>
      <vt:lpstr>Aptos Narrow</vt:lpstr>
      <vt:lpstr>Arial</vt:lpstr>
      <vt:lpstr>Calibri</vt:lpstr>
      <vt:lpstr>Cambria Math</vt:lpstr>
      <vt:lpstr>自訂設計</vt:lpstr>
      <vt:lpstr>1_自訂設計</vt:lpstr>
      <vt:lpstr>母片</vt:lpstr>
      <vt:lpstr>      SP1 - Optimalizační modely  v mikroekonomii   -</vt:lpstr>
      <vt:lpstr>SPOTŘEBNÍ KOŠ [Brambory, Rýže] – Data - SPOTŘEBNÍ MODELY</vt:lpstr>
      <vt:lpstr>Užitková funkce</vt:lpstr>
      <vt:lpstr>Rozpočtové omezení</vt:lpstr>
      <vt:lpstr>Lagrangeova funkce _Wolfarm</vt:lpstr>
      <vt:lpstr>Lagrangeova funkce _GeoGebra</vt:lpstr>
      <vt:lpstr> VLIV ZMĚN CENY NA POPTÁVKU</vt:lpstr>
      <vt:lpstr> DŮCHODOVÁ ELASTICITA</vt:lpstr>
      <vt:lpstr> DŮCHODOVÁ ELASTICITA</vt:lpstr>
      <vt:lpstr>DŮCHODOVÝ A SUBSTITUČNÍ EFEKT, HICKSŮVROZKLAD</vt:lpstr>
      <vt:lpstr> CENOVÁ ELASTICITA</vt:lpstr>
      <vt:lpstr> KŘÍŽOVÝ EFEKT - Změna ceny Rýže, Změna poptávky po Brambory</vt:lpstr>
      <vt:lpstr> SEZNAM LITERATURY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SP1 - Optimalizační modely  v mikroekonomii   -</dc:title>
  <dc:creator>Shuli Chen</dc:creator>
  <cp:lastModifiedBy>Shuli Chen</cp:lastModifiedBy>
  <cp:revision>87</cp:revision>
  <dcterms:created xsi:type="dcterms:W3CDTF">2025-10-24T13:05:08Z</dcterms:created>
  <dcterms:modified xsi:type="dcterms:W3CDTF">2025-11-03T10:04:50Z</dcterms:modified>
</cp:coreProperties>
</file>